
<file path=[Content_Types].xml><?xml version="1.0" encoding="utf-8"?>
<Types xmlns="http://schemas.openxmlformats.org/package/2006/content-types">
  <Default Extension="xlsx" ContentType="application/vnd.openxmlformats-officedocument.spreadsheetml.sheet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0" Type="http://schemas.openxmlformats.org/officeDocument/2006/relationships/tableStyles" Target="tableStyles.xml"/><Relationship Id="rId2" Type="http://schemas.openxmlformats.org/officeDocument/2006/relationships/theme" Target="theme/theme1.xml"/><Relationship Id="rId19" Type="http://schemas.openxmlformats.org/officeDocument/2006/relationships/viewProps" Target="viewProps.xml"/><Relationship Id="rId18" Type="http://schemas.openxmlformats.org/officeDocument/2006/relationships/presProps" Target="presProps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Workbook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觉得爽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1E293B"/>
                    </a:solidFill>
                    <a:latin typeface="Arial" panose="020B060402020209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Sheet1!$A$2:$A$5</c:f>
              <c:strCache>
                <c:ptCount val="4"/>
                <c:pt idx="0">
                  <c:v>萌新 (&lt;1年)</c:v>
                </c:pt>
                <c:pt idx="1">
                  <c:v>熟手 (3-5年)</c:v>
                </c:pt>
                <c:pt idx="2">
                  <c:v>老手 (5-10年)</c:v>
                </c:pt>
                <c:pt idx="3">
                  <c:v>专家 (10年+)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55</c:v>
                </c:pt>
                <c:pt idx="1">
                  <c:v>35</c:v>
                </c:pt>
                <c:pt idx="2">
                  <c:v>15</c:v>
                </c:pt>
                <c:pt idx="3">
                  <c:v>15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rgbClr val="000000"/>
                </a:solidFill>
                <a:latin typeface="Arial" panose="020B060402020209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rgbClr val="000000"/>
                </a:solidFill>
                <a:latin typeface="Arial" panose="020B060402020209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0"/>
    <c:extLst>
      <c:ext uri="{0b15fc19-7d7d-44ad-8c2d-2c3a37ce22c3}">
        <chartProps xmlns="https://web.wps.cn/et/2018/main" chartId="{b06f950a-4687-4a16-9230-4f96adc5c4e6}"/>
      </c:ext>
    </c:extLst>
  </c:chart>
  <c:spPr>
    <a:solidFill>
      <a:srgbClr val="F8FAFC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9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1.xml"/><Relationship Id="rId1" Type="http://schemas.openxmlformats.org/officeDocument/2006/relationships/hyperlink" Target="https://www.kdocs.cn/l/cbXVfAcK1EKE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1.xml"/><Relationship Id="rId1" Type="http://schemas.openxmlformats.org/officeDocument/2006/relationships/chart" Target="../charts/char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1.xml"/><Relationship Id="rId1" Type="http://schemas.openxmlformats.org/officeDocument/2006/relationships/hyperlink" Target="https://www.kdocs.cn/l/chV7VM8wv0mH" TargetMode="Externa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1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1" Type="http://schemas.openxmlformats.org/officeDocument/2006/relationships/hyperlink" Target="https://www.kdocs.cn/l/csjsAZtLuBqI" TargetMode="Externa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10800000">
            <a:off x="6858000" y="-914400"/>
            <a:ext cx="3657600" cy="7315200"/>
          </a:xfrm>
          <a:prstGeom prst="triangle">
            <a:avLst/>
          </a:prstGeom>
          <a:solidFill>
            <a:srgbClr val="DBEAFE">
              <a:alpha val="40000"/>
            </a:srgbClr>
          </a:solidFill>
        </p:spPr>
      </p:sp>
      <p:sp>
        <p:nvSpPr>
          <p:cNvPr id="3" name="Shape 1"/>
          <p:cNvSpPr/>
          <p:nvPr/>
        </p:nvSpPr>
        <p:spPr>
          <a:xfrm rot="10800000">
            <a:off x="7772400" y="-914400"/>
            <a:ext cx="2743200" cy="7315200"/>
          </a:xfrm>
          <a:prstGeom prst="triangle">
            <a:avLst/>
          </a:prstGeom>
          <a:solidFill>
            <a:srgbClr val="2563EB">
              <a:alpha val="20000"/>
            </a:srgbClr>
          </a:solidFill>
        </p:spPr>
      </p:sp>
      <p:sp>
        <p:nvSpPr>
          <p:cNvPr id="4" name="Text 2"/>
          <p:cNvSpPr/>
          <p:nvPr/>
        </p:nvSpPr>
        <p:spPr>
          <a:xfrm>
            <a:off x="731520" y="1371600"/>
            <a:ext cx="6400800" cy="914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0" b="1" dirty="0">
                <a:solidFill>
                  <a:srgbClr val="2563EB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AI 编程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731520" y="2286000"/>
            <a:ext cx="7315200" cy="914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1E293B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解锁超级生产力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731520" y="3291840"/>
            <a:ext cx="685800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别让 AI 替你思考，让它替你跑腿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731520" y="4389120"/>
            <a:ext cx="2286000" cy="457200"/>
          </a:xfrm>
          <a:prstGeom prst="roundRect">
            <a:avLst>
              <a:gd name="adj" fmla="val 50000"/>
            </a:avLst>
          </a:prstGeom>
          <a:solidFill>
            <a:srgbClr val="F59E0B"/>
          </a:solidFill>
        </p:spPr>
        <p:txBody>
          <a:bodyPr/>
          <a:p>
            <a:endParaRPr lang="zh-CN" altLang="en-US"/>
          </a:p>
        </p:txBody>
      </p:sp>
      <p:sp>
        <p:nvSpPr>
          <p:cNvPr id="8" name="Text 6"/>
          <p:cNvSpPr/>
          <p:nvPr/>
        </p:nvSpPr>
        <p:spPr>
          <a:xfrm>
            <a:off x="731520" y="4389120"/>
            <a:ext cx="22860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400" dirty="0">
                <a:solidFill>
                  <a:srgbClr val="FFFFFF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冷志峰</a:t>
            </a:r>
            <a:r>
              <a:rPr lang="en-US" altLang="zh-CN" sz="1400" dirty="0">
                <a:solidFill>
                  <a:srgbClr val="FFFFFF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    </a:t>
            </a:r>
            <a:r>
              <a:rPr lang="en-US" sz="1400" dirty="0">
                <a:solidFill>
                  <a:srgbClr val="FFFFFF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2026 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731520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E293B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本次旅程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371600"/>
            <a:ext cx="1920240" cy="320040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40080" y="1371600"/>
            <a:ext cx="1920240" cy="137160"/>
          </a:xfrm>
          <a:prstGeom prst="roundRect">
            <a:avLst>
              <a:gd name="adj" fmla="val 66667"/>
            </a:avLst>
          </a:prstGeom>
          <a:solidFill>
            <a:srgbClr val="2563EB"/>
          </a:solidFill>
        </p:spPr>
      </p:sp>
      <p:sp>
        <p:nvSpPr>
          <p:cNvPr id="5" name="Text 3"/>
          <p:cNvSpPr/>
          <p:nvPr/>
        </p:nvSpPr>
        <p:spPr>
          <a:xfrm>
            <a:off x="640080" y="1645920"/>
            <a:ext cx="192024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E2E8F0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01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731520" y="2560320"/>
            <a:ext cx="173736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E293B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现状扫描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731520" y="3474720"/>
            <a:ext cx="1737360" cy="914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大家都在怎么用 AI？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2697480" y="1371600"/>
            <a:ext cx="1920240" cy="320040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2697480" y="1371600"/>
            <a:ext cx="1920240" cy="137160"/>
          </a:xfrm>
          <a:prstGeom prst="roundRect">
            <a:avLst>
              <a:gd name="adj" fmla="val 66667"/>
            </a:avLst>
          </a:prstGeom>
          <a:solidFill>
            <a:srgbClr val="06B6D4"/>
          </a:solidFill>
        </p:spPr>
      </p:sp>
      <p:sp>
        <p:nvSpPr>
          <p:cNvPr id="10" name="Text 8"/>
          <p:cNvSpPr/>
          <p:nvPr/>
        </p:nvSpPr>
        <p:spPr>
          <a:xfrm>
            <a:off x="2697480" y="1645920"/>
            <a:ext cx="192024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E2E8F0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02</a:t>
            </a:r>
            <a:endParaRPr lang="en-US" sz="4800" dirty="0"/>
          </a:p>
        </p:txBody>
      </p:sp>
      <p:sp>
        <p:nvSpPr>
          <p:cNvPr id="11" name="Text 9"/>
          <p:cNvSpPr/>
          <p:nvPr/>
        </p:nvSpPr>
        <p:spPr>
          <a:xfrm>
            <a:off x="2788920" y="2560320"/>
            <a:ext cx="173736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E293B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解密 AI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2788920" y="3474720"/>
            <a:ext cx="1737360" cy="914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它的“大脑”到底在想什么？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754880" y="1371600"/>
            <a:ext cx="1920240" cy="320040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754880" y="1371600"/>
            <a:ext cx="1920240" cy="137160"/>
          </a:xfrm>
          <a:prstGeom prst="roundRect">
            <a:avLst>
              <a:gd name="adj" fmla="val 66667"/>
            </a:avLst>
          </a:prstGeom>
          <a:solidFill>
            <a:srgbClr val="F59E0B"/>
          </a:solidFill>
        </p:spPr>
      </p:sp>
      <p:sp>
        <p:nvSpPr>
          <p:cNvPr id="15" name="Text 13"/>
          <p:cNvSpPr/>
          <p:nvPr/>
        </p:nvSpPr>
        <p:spPr>
          <a:xfrm>
            <a:off x="4754880" y="1645920"/>
            <a:ext cx="192024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E2E8F0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03</a:t>
            </a:r>
            <a:endParaRPr lang="en-US" sz="4800" dirty="0"/>
          </a:p>
        </p:txBody>
      </p:sp>
      <p:sp>
        <p:nvSpPr>
          <p:cNvPr id="16" name="Text 14"/>
          <p:cNvSpPr/>
          <p:nvPr/>
        </p:nvSpPr>
        <p:spPr>
          <a:xfrm>
            <a:off x="4846320" y="2560320"/>
            <a:ext cx="173736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E293B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高玩攻略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4846320" y="3474720"/>
            <a:ext cx="1737360" cy="914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从入门到精通的 10 条秘籍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812280" y="1371600"/>
            <a:ext cx="1920240" cy="320040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812280" y="1371600"/>
            <a:ext cx="1920240" cy="137160"/>
          </a:xfrm>
          <a:prstGeom prst="roundRect">
            <a:avLst>
              <a:gd name="adj" fmla="val 66667"/>
            </a:avLst>
          </a:prstGeom>
          <a:solidFill>
            <a:srgbClr val="8B5CF6"/>
          </a:solidFill>
        </p:spPr>
      </p:sp>
      <p:sp>
        <p:nvSpPr>
          <p:cNvPr id="20" name="Text 18"/>
          <p:cNvSpPr/>
          <p:nvPr/>
        </p:nvSpPr>
        <p:spPr>
          <a:xfrm>
            <a:off x="6812280" y="1645920"/>
            <a:ext cx="192024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E2E8F0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04</a:t>
            </a:r>
            <a:endParaRPr lang="en-US" sz="4800" dirty="0"/>
          </a:p>
        </p:txBody>
      </p:sp>
      <p:sp>
        <p:nvSpPr>
          <p:cNvPr id="21" name="Text 19"/>
          <p:cNvSpPr/>
          <p:nvPr/>
        </p:nvSpPr>
        <p:spPr>
          <a:xfrm>
            <a:off x="6903720" y="2560320"/>
            <a:ext cx="173736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E293B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未来已来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6903720" y="3474720"/>
            <a:ext cx="1737360" cy="914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打造你的自动化流水线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0" y="-1828800"/>
            <a:ext cx="7315200" cy="7315200"/>
          </a:xfrm>
          <a:prstGeom prst="ellipse">
            <a:avLst/>
          </a:prstGeom>
          <a:solidFill>
            <a:srgbClr val="2563EB">
              <a:alpha val="10000"/>
            </a:srgbClr>
          </a:solidFill>
        </p:spPr>
      </p:sp>
      <p:sp>
        <p:nvSpPr>
          <p:cNvPr id="3" name="Text 1"/>
          <p:cNvSpPr/>
          <p:nvPr/>
        </p:nvSpPr>
        <p:spPr>
          <a:xfrm>
            <a:off x="731520" y="1371600"/>
            <a:ext cx="1828800" cy="914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0" b="1" dirty="0">
                <a:solidFill>
                  <a:srgbClr val="2563EB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01</a:t>
            </a:r>
            <a:endParaRPr lang="en-US" sz="8000" dirty="0"/>
          </a:p>
        </p:txBody>
      </p:sp>
      <p:sp>
        <p:nvSpPr>
          <p:cNvPr id="4" name="Text 2"/>
          <p:cNvSpPr/>
          <p:nvPr/>
        </p:nvSpPr>
        <p:spPr>
          <a:xfrm>
            <a:off x="731520" y="2560320"/>
            <a:ext cx="731520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1E293B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现状扫描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731520" y="3383280"/>
            <a:ext cx="73152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老司机 vs 新手村：谁更快乐？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20040"/>
            <a:ext cx="731520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93B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  <a:hlinkClick r:id="rId1" tooltip="" action="ppaction://hlinkfile"/>
              </a:rPr>
              <a:t>关键发现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1920240" cy="164592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457200" y="1188720"/>
            <a:ext cx="192024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🚀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1645920"/>
            <a:ext cx="192024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2563EB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100%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457200" y="2194560"/>
            <a:ext cx="19202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都在用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2606040" y="1097280"/>
            <a:ext cx="1920240" cy="164592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606040" y="1188720"/>
            <a:ext cx="192024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⚡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2606040" y="1645920"/>
            <a:ext cx="192024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06B6D4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50%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2606040" y="2194560"/>
            <a:ext cx="19202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天天用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754880" y="1097280"/>
            <a:ext cx="1920240" cy="164592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754880" y="1188720"/>
            <a:ext cx="192024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🤝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4754880" y="1645920"/>
            <a:ext cx="192024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59E0B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25%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4754880" y="2194560"/>
            <a:ext cx="19202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完全信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6903720" y="1097280"/>
            <a:ext cx="1920240" cy="164592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903720" y="1188720"/>
            <a:ext cx="192024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🤔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6903720" y="1645920"/>
            <a:ext cx="192024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59E0B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75%</a:t>
            </a:r>
            <a:endParaRPr lang="en-US" sz="4000" dirty="0"/>
          </a:p>
        </p:txBody>
      </p:sp>
      <p:sp>
        <p:nvSpPr>
          <p:cNvPr id="18" name="Text 16"/>
          <p:cNvSpPr/>
          <p:nvPr/>
        </p:nvSpPr>
        <p:spPr>
          <a:xfrm>
            <a:off x="6903720" y="2194560"/>
            <a:ext cx="19202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留一手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57200" y="3108960"/>
            <a:ext cx="8229600" cy="1280160"/>
          </a:xfrm>
          <a:prstGeom prst="roundRect">
            <a:avLst>
              <a:gd name="adj" fmla="val 7143"/>
            </a:avLst>
          </a:prstGeom>
          <a:solidFill>
            <a:srgbClr val="DBEAFE">
              <a:alpha val="50000"/>
            </a:srgbClr>
          </a:solidFill>
          <a:ln w="25400">
            <a:solidFill>
              <a:srgbClr val="2563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" y="329184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563EB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💡 有趣的“经验倒挂”现象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731520" y="3749040"/>
            <a:ext cx="777240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萌新觉得 AI 是“神队友”，效率直接起飞 🚀</a:t>
            </a:r>
            <a:endParaRPr lang="en-US" sz="16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大佬觉得 AI 是“实习生”，改错还得花时间 😅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20040"/>
            <a:ext cx="731520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93B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AI 生产力悖论</a:t>
            </a:r>
            <a:endParaRPr lang="en-US" sz="2800" dirty="0"/>
          </a:p>
        </p:txBody>
      </p:sp>
      <p:graphicFrame>
        <p:nvGraphicFramePr>
          <p:cNvPr id="3" name="Chart 0"/>
          <p:cNvGraphicFramePr/>
          <p:nvPr/>
        </p:nvGraphicFramePr>
        <p:xfrm>
          <a:off x="457200" y="1097280"/>
          <a:ext cx="457200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4" name="Text 1"/>
          <p:cNvSpPr/>
          <p:nvPr/>
        </p:nvSpPr>
        <p:spPr>
          <a:xfrm>
            <a:off x="5486400" y="1097280"/>
            <a:ext cx="32004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59E0B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为什么会这样？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5486400" y="1645920"/>
            <a:ext cx="32004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老司机的心流被打算了。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5486400" y="2103120"/>
            <a:ext cx="3200400" cy="1371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285750" indent="-285750">
              <a:buFont typeface="Arial" panose="020B0604020202090204" pitchFamily="34" charset="0"/>
              <a:buChar char="•"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资深开发者已有肌肉记忆，AI 插入中间反而像个“绊脚石”。</a:t>
            </a:r>
            <a:endParaRPr lang="en-US" sz="1400" dirty="0">
              <a:solidFill>
                <a:srgbClr val="64748B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endParaRPr lang="en-US" sz="1400" dirty="0"/>
          </a:p>
          <a:p>
            <a:pPr marL="285750" indent="-285750">
              <a:buFont typeface="Arial" panose="020B0604020202090204" pitchFamily="34" charset="0"/>
              <a:buChar char="•"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但对于还在摸索的新手，AI 填补了知识空白。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486400" y="3590925"/>
            <a:ext cx="3200400" cy="731520"/>
          </a:xfrm>
          <a:prstGeom prst="roundRect">
            <a:avLst>
              <a:gd name="adj" fmla="val 12500"/>
            </a:avLst>
          </a:prstGeom>
          <a:gradFill>
            <a:gsLst>
              <a:gs pos="0">
                <a:srgbClr val="D7F0FC"/>
              </a:gs>
              <a:gs pos="52000">
                <a:srgbClr val="FFEFDE"/>
              </a:gs>
              <a:gs pos="100000">
                <a:srgbClr val="FFDCFC"/>
              </a:gs>
            </a:gsLst>
            <a:lin ang="5400000" scaled="1"/>
          </a:gradFill>
          <a:ln w="12700">
            <a:solidFill>
              <a:srgbClr val="EF4444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577840" y="3682365"/>
            <a:ext cx="301752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警惕：METR 研究显示，AI 可能让你“感觉”变快了，但实际变慢了 19%！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0" y="-1828800"/>
            <a:ext cx="7315200" cy="7315200"/>
          </a:xfrm>
          <a:prstGeom prst="ellipse">
            <a:avLst/>
          </a:prstGeom>
          <a:solidFill>
            <a:srgbClr val="06B6D4">
              <a:alpha val="10000"/>
            </a:srgbClr>
          </a:solidFill>
        </p:spPr>
      </p:sp>
      <p:sp>
        <p:nvSpPr>
          <p:cNvPr id="3" name="Text 1"/>
          <p:cNvSpPr/>
          <p:nvPr/>
        </p:nvSpPr>
        <p:spPr>
          <a:xfrm>
            <a:off x="731520" y="1371600"/>
            <a:ext cx="1828800" cy="914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0" b="1" dirty="0">
                <a:solidFill>
                  <a:srgbClr val="06B6D4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02</a:t>
            </a:r>
            <a:endParaRPr lang="en-US" sz="8000" dirty="0"/>
          </a:p>
        </p:txBody>
      </p:sp>
      <p:sp>
        <p:nvSpPr>
          <p:cNvPr id="4" name="Text 2"/>
          <p:cNvSpPr/>
          <p:nvPr/>
        </p:nvSpPr>
        <p:spPr>
          <a:xfrm>
            <a:off x="731520" y="2560320"/>
            <a:ext cx="731520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1E293B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解密 AI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731520" y="3383280"/>
            <a:ext cx="73152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它不是人，它是“接龙高手”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20040"/>
            <a:ext cx="822960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93B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AI 的大脑：一场概率游戏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82296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它不是在“思考”，它是在“猜下一个词”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86868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645920"/>
            <a:ext cx="86868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function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600200" y="1645920"/>
            <a:ext cx="86868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600200" y="1645920"/>
            <a:ext cx="86868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calculate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2560320" y="1645920"/>
            <a:ext cx="86868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560320" y="1645920"/>
            <a:ext cx="86868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Total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520440" y="1645920"/>
            <a:ext cx="86868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520440" y="1645920"/>
            <a:ext cx="86868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480560" y="1645920"/>
            <a:ext cx="86868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480560" y="1645920"/>
            <a:ext cx="86868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price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440680" y="1645920"/>
            <a:ext cx="86868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440680" y="1645920"/>
            <a:ext cx="86868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400800" y="1645920"/>
            <a:ext cx="86868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400800" y="1645920"/>
            <a:ext cx="86868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7360920" y="1645920"/>
            <a:ext cx="86868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7360920" y="1645920"/>
            <a:ext cx="86868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8321040" y="1645920"/>
            <a:ext cx="868680" cy="548640"/>
          </a:xfrm>
          <a:prstGeom prst="roundRect">
            <a:avLst>
              <a:gd name="adj" fmla="val 16667"/>
            </a:avLst>
          </a:prstGeom>
          <a:solidFill>
            <a:srgbClr val="F59E0B"/>
          </a:solidFill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8321040" y="1645920"/>
            <a:ext cx="86868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...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40080" y="2743200"/>
            <a:ext cx="365760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822960" y="2926080"/>
            <a:ext cx="32004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0B981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😎 它的强项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822960" y="3383280"/>
            <a:ext cx="3291840" cy="10972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</a:rPr>
              <a:t>记忆力超群（背过所有 GitHub 代码）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</a:rPr>
              <a:t>不知疲倦（24h 待命）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</a:rPr>
              <a:t>通晓万语（Python/JS/Go...）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846320" y="2743200"/>
            <a:ext cx="365760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5029200" y="2926080"/>
            <a:ext cx="32004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F4444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😵 它的弱点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5029200" y="3383280"/>
            <a:ext cx="3291840" cy="10972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</a:rPr>
              <a:t>金鱼记忆（上下文有限）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</a:rPr>
              <a:t>一本正经胡说八道（幻觉）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</a:rPr>
              <a:t>不懂业务（没有上帝视角）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20040"/>
            <a:ext cx="731520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93B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避坑指南：</a:t>
            </a:r>
            <a:r>
              <a:rPr lang="en-US" sz="2800" b="1" dirty="0">
                <a:solidFill>
                  <a:srgbClr val="1E293B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  <a:hlinkClick r:id="rId1" tooltip="" action="ppaction://hlinkfile"/>
              </a:rPr>
              <a:t>AI 挖的那些坑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40080" y="1371600"/>
            <a:ext cx="1920240" cy="2743200"/>
          </a:xfrm>
          <a:prstGeom prst="roundRect">
            <a:avLst>
              <a:gd name="adj" fmla="val 4762"/>
            </a:avLst>
          </a:prstGeom>
          <a:solidFill>
            <a:srgbClr val="F8FAFC"/>
          </a:solidFill>
        </p:spPr>
      </p:sp>
      <p:sp>
        <p:nvSpPr>
          <p:cNvPr id="4" name="Shape 2"/>
          <p:cNvSpPr/>
          <p:nvPr/>
        </p:nvSpPr>
        <p:spPr>
          <a:xfrm>
            <a:off x="1280160" y="1645920"/>
            <a:ext cx="640080" cy="640080"/>
          </a:xfrm>
          <a:prstGeom prst="ellipse">
            <a:avLst/>
          </a:prstGeom>
          <a:solidFill>
            <a:srgbClr val="EF4444"/>
          </a:solidFill>
        </p:spPr>
      </p:sp>
      <p:sp>
        <p:nvSpPr>
          <p:cNvPr id="5" name="Text 3"/>
          <p:cNvSpPr/>
          <p:nvPr/>
        </p:nvSpPr>
        <p:spPr>
          <a:xfrm>
            <a:off x="1280160" y="1645920"/>
            <a:ext cx="64008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FFFFFF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!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731520" y="2468880"/>
            <a:ext cx="173736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293B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失忆症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22960" y="3017520"/>
            <a:ext cx="1554480" cy="914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聊着聊着就忘了前面的设定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697480" y="1371600"/>
            <a:ext cx="1920240" cy="2743200"/>
          </a:xfrm>
          <a:prstGeom prst="roundRect">
            <a:avLst>
              <a:gd name="adj" fmla="val 4762"/>
            </a:avLst>
          </a:prstGeom>
          <a:solidFill>
            <a:srgbClr val="F8FAFC"/>
          </a:solidFill>
        </p:spPr>
      </p:sp>
      <p:sp>
        <p:nvSpPr>
          <p:cNvPr id="9" name="Shape 7"/>
          <p:cNvSpPr/>
          <p:nvPr/>
        </p:nvSpPr>
        <p:spPr>
          <a:xfrm>
            <a:off x="3337560" y="1645920"/>
            <a:ext cx="640080" cy="640080"/>
          </a:xfrm>
          <a:prstGeom prst="ellipse">
            <a:avLst/>
          </a:prstGeom>
          <a:solidFill>
            <a:srgbClr val="F59E0B"/>
          </a:solidFill>
        </p:spPr>
      </p:sp>
      <p:sp>
        <p:nvSpPr>
          <p:cNvPr id="10" name="Text 8"/>
          <p:cNvSpPr/>
          <p:nvPr/>
        </p:nvSpPr>
        <p:spPr>
          <a:xfrm>
            <a:off x="3337560" y="1645920"/>
            <a:ext cx="64008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FFFFFF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!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2788920" y="2468880"/>
            <a:ext cx="173736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293B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瞎编乱造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2880360" y="3017520"/>
            <a:ext cx="1554480" cy="914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虚构一个不存在的完美 API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754880" y="1371600"/>
            <a:ext cx="1920240" cy="2743200"/>
          </a:xfrm>
          <a:prstGeom prst="roundRect">
            <a:avLst>
              <a:gd name="adj" fmla="val 4762"/>
            </a:avLst>
          </a:prstGeom>
          <a:solidFill>
            <a:srgbClr val="F8FAFC"/>
          </a:solidFill>
        </p:spPr>
      </p:sp>
      <p:sp>
        <p:nvSpPr>
          <p:cNvPr id="14" name="Shape 12"/>
          <p:cNvSpPr/>
          <p:nvPr/>
        </p:nvSpPr>
        <p:spPr>
          <a:xfrm>
            <a:off x="5394960" y="1645920"/>
            <a:ext cx="640080" cy="640080"/>
          </a:xfrm>
          <a:prstGeom prst="ellipse">
            <a:avLst/>
          </a:prstGeom>
          <a:solidFill>
            <a:srgbClr val="F59E0B"/>
          </a:solidFill>
        </p:spPr>
      </p:sp>
      <p:sp>
        <p:nvSpPr>
          <p:cNvPr id="15" name="Text 13"/>
          <p:cNvSpPr/>
          <p:nvPr/>
        </p:nvSpPr>
        <p:spPr>
          <a:xfrm>
            <a:off x="5394960" y="1645920"/>
            <a:ext cx="64008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FFFFFF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!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4846320" y="2468880"/>
            <a:ext cx="173736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293B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自作聪明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4937760" y="3017520"/>
            <a:ext cx="1554480" cy="914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擅自修改我不让动的文件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812280" y="1371600"/>
            <a:ext cx="1920240" cy="2743200"/>
          </a:xfrm>
          <a:prstGeom prst="roundRect">
            <a:avLst>
              <a:gd name="adj" fmla="val 4762"/>
            </a:avLst>
          </a:prstGeom>
          <a:solidFill>
            <a:srgbClr val="F8FAFC"/>
          </a:solidFill>
        </p:spPr>
      </p:sp>
      <p:sp>
        <p:nvSpPr>
          <p:cNvPr id="19" name="Shape 17"/>
          <p:cNvSpPr/>
          <p:nvPr/>
        </p:nvSpPr>
        <p:spPr>
          <a:xfrm>
            <a:off x="7452360" y="1645920"/>
            <a:ext cx="640080" cy="640080"/>
          </a:xfrm>
          <a:prstGeom prst="ellipse">
            <a:avLst/>
          </a:prstGeom>
          <a:solidFill>
            <a:srgbClr val="8B5CF6"/>
          </a:solidFill>
        </p:spPr>
      </p:sp>
      <p:sp>
        <p:nvSpPr>
          <p:cNvPr id="20" name="Text 18"/>
          <p:cNvSpPr/>
          <p:nvPr/>
        </p:nvSpPr>
        <p:spPr>
          <a:xfrm>
            <a:off x="7452360" y="1645920"/>
            <a:ext cx="64008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FFFFFF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!</a:t>
            </a:r>
            <a:endParaRPr lang="en-US" sz="3200" dirty="0"/>
          </a:p>
        </p:txBody>
      </p:sp>
      <p:sp>
        <p:nvSpPr>
          <p:cNvPr id="21" name="Text 19"/>
          <p:cNvSpPr/>
          <p:nvPr/>
        </p:nvSpPr>
        <p:spPr>
          <a:xfrm>
            <a:off x="6903720" y="2468880"/>
            <a:ext cx="173736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293B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过度设计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995160" y="3017520"/>
            <a:ext cx="1554480" cy="914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写个 Hello World 也要用工厂模式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0" y="-1828800"/>
            <a:ext cx="7315200" cy="7315200"/>
          </a:xfrm>
          <a:prstGeom prst="ellipse">
            <a:avLst/>
          </a:prstGeom>
          <a:solidFill>
            <a:srgbClr val="F59E0B">
              <a:alpha val="10000"/>
            </a:srgbClr>
          </a:solidFill>
        </p:spPr>
      </p:sp>
      <p:sp>
        <p:nvSpPr>
          <p:cNvPr id="3" name="Text 1"/>
          <p:cNvSpPr/>
          <p:nvPr/>
        </p:nvSpPr>
        <p:spPr>
          <a:xfrm>
            <a:off x="731520" y="1371600"/>
            <a:ext cx="1828800" cy="914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0" b="1" dirty="0">
                <a:solidFill>
                  <a:srgbClr val="F59E0B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03</a:t>
            </a:r>
            <a:endParaRPr lang="en-US" sz="8000" dirty="0"/>
          </a:p>
        </p:txBody>
      </p:sp>
      <p:sp>
        <p:nvSpPr>
          <p:cNvPr id="4" name="Text 2"/>
          <p:cNvSpPr/>
          <p:nvPr/>
        </p:nvSpPr>
        <p:spPr>
          <a:xfrm>
            <a:off x="731520" y="2560320"/>
            <a:ext cx="731520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1E293B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高玩攻略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731520" y="3383280"/>
            <a:ext cx="73152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驯服 AI 的 10 条秘籍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20040"/>
            <a:ext cx="731520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93B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驯服 AI 的 10 条秘籍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40080" y="1097280"/>
            <a:ext cx="402336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22960" y="1234440"/>
            <a:ext cx="274320" cy="274320"/>
          </a:xfrm>
          <a:prstGeom prst="ellipse">
            <a:avLst/>
          </a:prstGeom>
          <a:solidFill>
            <a:srgbClr val="F59E0B"/>
          </a:solidFill>
        </p:spPr>
      </p:sp>
      <p:sp>
        <p:nvSpPr>
          <p:cNvPr id="5" name="Text 3"/>
          <p:cNvSpPr/>
          <p:nvPr/>
        </p:nvSpPr>
        <p:spPr>
          <a:xfrm>
            <a:off x="1280160" y="1097280"/>
            <a:ext cx="329184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📄 </a:t>
            </a: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openspec 是紧箍咒 (必须有!)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402336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22960" y="1920240"/>
            <a:ext cx="274320" cy="274320"/>
          </a:xfrm>
          <a:prstGeom prst="ellipse">
            <a:avLst/>
          </a:prstGeom>
          <a:solidFill>
            <a:srgbClr val="F59E0B"/>
          </a:solidFill>
        </p:spPr>
      </p:sp>
      <p:sp>
        <p:nvSpPr>
          <p:cNvPr id="8" name="Text 6"/>
          <p:cNvSpPr/>
          <p:nvPr/>
        </p:nvSpPr>
        <p:spPr>
          <a:xfrm>
            <a:off x="1280160" y="1783080"/>
            <a:ext cx="329184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上下文给足，别让它猜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2468880"/>
            <a:ext cx="402336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22960" y="2606040"/>
            <a:ext cx="274320" cy="274320"/>
          </a:xfrm>
          <a:prstGeom prst="ellipse">
            <a:avLst/>
          </a:prstGeom>
          <a:solidFill>
            <a:srgbClr val="F59E0B"/>
          </a:solidFill>
        </p:spPr>
      </p:sp>
      <p:sp>
        <p:nvSpPr>
          <p:cNvPr id="11" name="Text 9"/>
          <p:cNvSpPr/>
          <p:nvPr/>
        </p:nvSpPr>
        <p:spPr>
          <a:xfrm>
            <a:off x="1280160" y="2468880"/>
            <a:ext cx="329184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API 必须查证，别信它的鬼话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3154680"/>
            <a:ext cx="402336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22960" y="3291840"/>
            <a:ext cx="274320" cy="274320"/>
          </a:xfrm>
          <a:prstGeom prst="ellipse">
            <a:avLst/>
          </a:prstGeom>
          <a:solidFill>
            <a:srgbClr val="F59E0B"/>
          </a:solidFill>
        </p:spPr>
      </p:sp>
      <p:sp>
        <p:nvSpPr>
          <p:cNvPr id="14" name="Text 12"/>
          <p:cNvSpPr/>
          <p:nvPr/>
        </p:nvSpPr>
        <p:spPr>
          <a:xfrm>
            <a:off x="1280160" y="3154680"/>
            <a:ext cx="329184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📅 检查版本，别用清朝的代码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3840480"/>
            <a:ext cx="402336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22960" y="3977640"/>
            <a:ext cx="274320" cy="274320"/>
          </a:xfrm>
          <a:prstGeom prst="ellipse">
            <a:avLst/>
          </a:prstGeom>
          <a:solidFill>
            <a:srgbClr val="F59E0B"/>
          </a:solidFill>
        </p:spPr>
      </p:sp>
      <p:sp>
        <p:nvSpPr>
          <p:cNvPr id="17" name="Text 15"/>
          <p:cNvSpPr/>
          <p:nvPr/>
        </p:nvSpPr>
        <p:spPr>
          <a:xfrm>
            <a:off x="1280160" y="3840480"/>
            <a:ext cx="329184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🎨 风格统一，强迫症福音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754880" y="1097280"/>
            <a:ext cx="402336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937760" y="1234440"/>
            <a:ext cx="274320" cy="274320"/>
          </a:xfrm>
          <a:prstGeom prst="ellipse">
            <a:avLst/>
          </a:prstGeom>
          <a:solidFill>
            <a:srgbClr val="F59E0B"/>
          </a:solidFill>
        </p:spPr>
      </p:sp>
      <p:sp>
        <p:nvSpPr>
          <p:cNvPr id="20" name="Text 18"/>
          <p:cNvSpPr/>
          <p:nvPr/>
        </p:nvSpPr>
        <p:spPr>
          <a:xfrm>
            <a:off x="5394960" y="1097280"/>
            <a:ext cx="329184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🤏 每次只改一点点 (原子化)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754880" y="1783080"/>
            <a:ext cx="402336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937760" y="1920240"/>
            <a:ext cx="274320" cy="274320"/>
          </a:xfrm>
          <a:prstGeom prst="ellipse">
            <a:avLst/>
          </a:prstGeom>
          <a:solidFill>
            <a:srgbClr val="F59E0B"/>
          </a:solidFill>
        </p:spPr>
      </p:sp>
      <p:sp>
        <p:nvSpPr>
          <p:cNvPr id="23" name="Text 21"/>
          <p:cNvSpPr/>
          <p:nvPr/>
        </p:nvSpPr>
        <p:spPr>
          <a:xfrm>
            <a:off x="5394960" y="1783080"/>
            <a:ext cx="329184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🪜 分步走：Step by Step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4754880" y="2468880"/>
            <a:ext cx="402336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937760" y="2606040"/>
            <a:ext cx="274320" cy="274320"/>
          </a:xfrm>
          <a:prstGeom prst="ellipse">
            <a:avLst/>
          </a:prstGeom>
          <a:solidFill>
            <a:srgbClr val="F59E0B"/>
          </a:solidFill>
        </p:spPr>
      </p:sp>
      <p:sp>
        <p:nvSpPr>
          <p:cNvPr id="26" name="Text 24"/>
          <p:cNvSpPr/>
          <p:nvPr/>
        </p:nvSpPr>
        <p:spPr>
          <a:xfrm>
            <a:off x="5394960" y="2468880"/>
            <a:ext cx="329184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🙅‍♂️ KISS 原则：简单才是美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4754880" y="3154680"/>
            <a:ext cx="402336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4937760" y="3291840"/>
            <a:ext cx="274320" cy="274320"/>
          </a:xfrm>
          <a:prstGeom prst="ellipse">
            <a:avLst/>
          </a:prstGeom>
          <a:solidFill>
            <a:srgbClr val="F59E0B"/>
          </a:solidFill>
        </p:spPr>
      </p:sp>
      <p:sp>
        <p:nvSpPr>
          <p:cNvPr id="29" name="Text 27"/>
          <p:cNvSpPr/>
          <p:nvPr/>
        </p:nvSpPr>
        <p:spPr>
          <a:xfrm>
            <a:off x="5394960" y="3154680"/>
            <a:ext cx="329184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 盯着它干活 (Review)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4754880" y="3840480"/>
            <a:ext cx="402336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4937760" y="3977640"/>
            <a:ext cx="274320" cy="274320"/>
          </a:xfrm>
          <a:prstGeom prst="ellipse">
            <a:avLst/>
          </a:prstGeom>
          <a:solidFill>
            <a:srgbClr val="F59E0B"/>
          </a:solidFill>
        </p:spPr>
      </p:sp>
      <p:sp>
        <p:nvSpPr>
          <p:cNvPr id="32" name="Text 30"/>
          <p:cNvSpPr/>
          <p:nvPr/>
        </p:nvSpPr>
        <p:spPr>
          <a:xfrm>
            <a:off x="5394960" y="3840480"/>
            <a:ext cx="329184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 安全第一，不要裸奔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20040"/>
            <a:ext cx="731520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93B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神器推荐：</a:t>
            </a:r>
            <a:r>
              <a:rPr lang="en-US" sz="2800" b="1" dirty="0">
                <a:solidFill>
                  <a:srgbClr val="1E293B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  <a:hlinkClick r:id="rId1" tooltip="" action="ppaction://hlinkfile"/>
              </a:rPr>
              <a:t>OpenSpec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40080" y="1097280"/>
            <a:ext cx="4319270" cy="2755900"/>
          </a:xfrm>
          <a:prstGeom prst="roundRect">
            <a:avLst>
              <a:gd name="adj" fmla="val 2632"/>
            </a:avLst>
          </a:prstGeom>
          <a:solidFill>
            <a:srgbClr val="1E293B"/>
          </a:solidFill>
        </p:spPr>
        <p:txBody>
          <a:bodyPr/>
          <a:p>
            <a:endParaRPr lang="zh-CN" altLang="en-US"/>
          </a:p>
        </p:txBody>
      </p:sp>
      <p:sp>
        <p:nvSpPr>
          <p:cNvPr id="4" name="Text 2"/>
          <p:cNvSpPr/>
          <p:nvPr/>
        </p:nvSpPr>
        <p:spPr>
          <a:xfrm>
            <a:off x="822960" y="1280160"/>
            <a:ext cx="4013835" cy="24307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zh-CN" sz="700" dirty="0">
                <a:solidFill>
                  <a:schemeClr val="bg1">
                    <a:lumMod val="75000"/>
                  </a:schemeClr>
                </a:solidFill>
              </a:rPr>
              <a:t>You: /opsx:new add-dark-mode</a:t>
            </a:r>
            <a:endParaRPr lang="en-US" altLang="zh-CN" sz="700" dirty="0">
              <a:solidFill>
                <a:schemeClr val="bg1">
                  <a:lumMod val="75000"/>
                </a:schemeClr>
              </a:solidFill>
            </a:endParaRPr>
          </a:p>
          <a:p>
            <a:pPr marL="0" indent="0">
              <a:buNone/>
            </a:pPr>
            <a:r>
              <a:rPr lang="en-US" altLang="zh-CN" sz="700" dirty="0">
                <a:solidFill>
                  <a:schemeClr val="bg1">
                    <a:lumMod val="75000"/>
                  </a:schemeClr>
                </a:solidFill>
              </a:rPr>
              <a:t>AI:  Created openspec/changes/add-dark-mode/</a:t>
            </a:r>
            <a:endParaRPr lang="en-US" altLang="zh-CN" sz="700" dirty="0">
              <a:solidFill>
                <a:schemeClr val="bg1">
                  <a:lumMod val="75000"/>
                </a:schemeClr>
              </a:solidFill>
            </a:endParaRPr>
          </a:p>
          <a:p>
            <a:pPr marL="0" indent="0">
              <a:buNone/>
            </a:pPr>
            <a:r>
              <a:rPr lang="en-US" altLang="zh-CN" sz="700" dirty="0">
                <a:solidFill>
                  <a:schemeClr val="bg1">
                    <a:lumMod val="75000"/>
                  </a:schemeClr>
                </a:solidFill>
              </a:rPr>
              <a:t>     Ready to create: proposal</a:t>
            </a:r>
            <a:endParaRPr lang="en-US" altLang="zh-CN" sz="700" dirty="0">
              <a:solidFill>
                <a:schemeClr val="bg1">
                  <a:lumMod val="75000"/>
                </a:schemeClr>
              </a:solidFill>
            </a:endParaRPr>
          </a:p>
          <a:p>
            <a:pPr marL="0" indent="0">
              <a:buNone/>
            </a:pPr>
            <a:endParaRPr lang="en-US" altLang="zh-CN" sz="700" dirty="0">
              <a:solidFill>
                <a:schemeClr val="bg1">
                  <a:lumMod val="75000"/>
                </a:schemeClr>
              </a:solidFill>
            </a:endParaRPr>
          </a:p>
          <a:p>
            <a:pPr marL="0" indent="0">
              <a:buNone/>
            </a:pPr>
            <a:r>
              <a:rPr lang="en-US" altLang="zh-CN" sz="700" dirty="0">
                <a:solidFill>
                  <a:schemeClr val="bg1">
                    <a:lumMod val="75000"/>
                  </a:schemeClr>
                </a:solidFill>
              </a:rPr>
              <a:t>You: /opsx:ff   # "fast-forward" - generate all planning docs</a:t>
            </a:r>
            <a:endParaRPr lang="en-US" altLang="zh-CN" sz="700" dirty="0">
              <a:solidFill>
                <a:schemeClr val="bg1">
                  <a:lumMod val="75000"/>
                </a:schemeClr>
              </a:solidFill>
            </a:endParaRPr>
          </a:p>
          <a:p>
            <a:pPr marL="0" indent="0">
              <a:buNone/>
            </a:pPr>
            <a:r>
              <a:rPr lang="en-US" altLang="zh-CN" sz="700" dirty="0">
                <a:solidFill>
                  <a:schemeClr val="bg1">
                    <a:lumMod val="75000"/>
                  </a:schemeClr>
                </a:solidFill>
              </a:rPr>
              <a:t>AI:  </a:t>
            </a:r>
            <a:r>
              <a:rPr lang="en-US" altLang="en-US" sz="700" dirty="0">
                <a:solidFill>
                  <a:schemeClr val="bg1">
                    <a:lumMod val="75000"/>
                  </a:schemeClr>
                </a:solidFill>
              </a:rPr>
              <a:t>✓</a:t>
            </a:r>
            <a:r>
              <a:rPr lang="en-US" altLang="zh-CN" sz="700" dirty="0">
                <a:solidFill>
                  <a:schemeClr val="bg1">
                    <a:lumMod val="75000"/>
                  </a:schemeClr>
                </a:solidFill>
              </a:rPr>
              <a:t> proposal.md — why we're doing this, what's changing</a:t>
            </a:r>
            <a:endParaRPr lang="en-US" altLang="zh-CN" sz="700" dirty="0">
              <a:solidFill>
                <a:schemeClr val="bg1">
                  <a:lumMod val="75000"/>
                </a:schemeClr>
              </a:solidFill>
            </a:endParaRPr>
          </a:p>
          <a:p>
            <a:pPr marL="0" indent="0">
              <a:buNone/>
            </a:pPr>
            <a:r>
              <a:rPr lang="en-US" altLang="zh-CN" sz="700" dirty="0">
                <a:solidFill>
                  <a:schemeClr val="bg1">
                    <a:lumMod val="75000"/>
                  </a:schemeClr>
                </a:solidFill>
              </a:rPr>
              <a:t>     </a:t>
            </a:r>
            <a:r>
              <a:rPr lang="en-US" altLang="en-US" sz="700" dirty="0">
                <a:solidFill>
                  <a:schemeClr val="bg1">
                    <a:lumMod val="75000"/>
                  </a:schemeClr>
                </a:solidFill>
              </a:rPr>
              <a:t>✓</a:t>
            </a:r>
            <a:r>
              <a:rPr lang="en-US" altLang="zh-CN" sz="700" dirty="0">
                <a:solidFill>
                  <a:schemeClr val="bg1">
                    <a:lumMod val="75000"/>
                  </a:schemeClr>
                </a:solidFill>
              </a:rPr>
              <a:t> specs/       — requirements and scenarios</a:t>
            </a:r>
            <a:endParaRPr lang="en-US" altLang="zh-CN" sz="700" dirty="0">
              <a:solidFill>
                <a:schemeClr val="bg1">
                  <a:lumMod val="75000"/>
                </a:schemeClr>
              </a:solidFill>
            </a:endParaRPr>
          </a:p>
          <a:p>
            <a:pPr marL="0" indent="0">
              <a:buNone/>
            </a:pPr>
            <a:r>
              <a:rPr lang="en-US" altLang="zh-CN" sz="700" dirty="0">
                <a:solidFill>
                  <a:schemeClr val="bg1">
                    <a:lumMod val="75000"/>
                  </a:schemeClr>
                </a:solidFill>
              </a:rPr>
              <a:t>     </a:t>
            </a:r>
            <a:r>
              <a:rPr lang="en-US" altLang="en-US" sz="700" dirty="0">
                <a:solidFill>
                  <a:schemeClr val="bg1">
                    <a:lumMod val="75000"/>
                  </a:schemeClr>
                </a:solidFill>
              </a:rPr>
              <a:t>✓</a:t>
            </a:r>
            <a:r>
              <a:rPr lang="en-US" altLang="zh-CN" sz="700" dirty="0">
                <a:solidFill>
                  <a:schemeClr val="bg1">
                    <a:lumMod val="75000"/>
                  </a:schemeClr>
                </a:solidFill>
              </a:rPr>
              <a:t> design.md    — technical approach</a:t>
            </a:r>
            <a:endParaRPr lang="en-US" altLang="zh-CN" sz="700" dirty="0">
              <a:solidFill>
                <a:schemeClr val="bg1">
                  <a:lumMod val="75000"/>
                </a:schemeClr>
              </a:solidFill>
            </a:endParaRPr>
          </a:p>
          <a:p>
            <a:pPr marL="0" indent="0">
              <a:buNone/>
            </a:pPr>
            <a:r>
              <a:rPr lang="en-US" altLang="zh-CN" sz="700" dirty="0">
                <a:solidFill>
                  <a:schemeClr val="bg1">
                    <a:lumMod val="75000"/>
                  </a:schemeClr>
                </a:solidFill>
              </a:rPr>
              <a:t>     </a:t>
            </a:r>
            <a:r>
              <a:rPr lang="en-US" altLang="en-US" sz="700" dirty="0">
                <a:solidFill>
                  <a:schemeClr val="bg1">
                    <a:lumMod val="75000"/>
                  </a:schemeClr>
                </a:solidFill>
              </a:rPr>
              <a:t>✓</a:t>
            </a:r>
            <a:r>
              <a:rPr lang="en-US" altLang="zh-CN" sz="700" dirty="0">
                <a:solidFill>
                  <a:schemeClr val="bg1">
                    <a:lumMod val="75000"/>
                  </a:schemeClr>
                </a:solidFill>
              </a:rPr>
              <a:t> tasks.md     — implementation checklist</a:t>
            </a:r>
            <a:endParaRPr lang="en-US" altLang="zh-CN" sz="700" dirty="0">
              <a:solidFill>
                <a:schemeClr val="bg1">
                  <a:lumMod val="75000"/>
                </a:schemeClr>
              </a:solidFill>
            </a:endParaRPr>
          </a:p>
          <a:p>
            <a:pPr marL="0" indent="0">
              <a:buNone/>
            </a:pPr>
            <a:r>
              <a:rPr lang="en-US" altLang="zh-CN" sz="700" dirty="0">
                <a:solidFill>
                  <a:schemeClr val="bg1">
                    <a:lumMod val="75000"/>
                  </a:schemeClr>
                </a:solidFill>
              </a:rPr>
              <a:t>     Ready for implementation!</a:t>
            </a:r>
            <a:endParaRPr lang="en-US" altLang="zh-CN" sz="700" dirty="0">
              <a:solidFill>
                <a:schemeClr val="bg1">
                  <a:lumMod val="75000"/>
                </a:schemeClr>
              </a:solidFill>
            </a:endParaRPr>
          </a:p>
          <a:p>
            <a:pPr marL="0" indent="0">
              <a:buNone/>
            </a:pPr>
            <a:endParaRPr lang="en-US" altLang="zh-CN" sz="700" dirty="0">
              <a:solidFill>
                <a:schemeClr val="bg1">
                  <a:lumMod val="75000"/>
                </a:schemeClr>
              </a:solidFill>
            </a:endParaRPr>
          </a:p>
          <a:p>
            <a:pPr marL="0" indent="0">
              <a:buNone/>
            </a:pPr>
            <a:r>
              <a:rPr lang="en-US" altLang="zh-CN" sz="700" dirty="0">
                <a:solidFill>
                  <a:schemeClr val="bg1">
                    <a:lumMod val="75000"/>
                  </a:schemeClr>
                </a:solidFill>
              </a:rPr>
              <a:t>You: /opsx:apply</a:t>
            </a:r>
            <a:endParaRPr lang="en-US" altLang="zh-CN" sz="700" dirty="0">
              <a:solidFill>
                <a:schemeClr val="bg1">
                  <a:lumMod val="75000"/>
                </a:schemeClr>
              </a:solidFill>
            </a:endParaRPr>
          </a:p>
          <a:p>
            <a:pPr marL="0" indent="0">
              <a:buNone/>
            </a:pPr>
            <a:r>
              <a:rPr lang="en-US" altLang="zh-CN" sz="700" dirty="0">
                <a:solidFill>
                  <a:schemeClr val="bg1">
                    <a:lumMod val="75000"/>
                  </a:schemeClr>
                </a:solidFill>
              </a:rPr>
              <a:t>AI:  Implementing tasks...</a:t>
            </a:r>
            <a:endParaRPr lang="en-US" altLang="zh-CN" sz="700" dirty="0">
              <a:solidFill>
                <a:schemeClr val="bg1">
                  <a:lumMod val="75000"/>
                </a:schemeClr>
              </a:solidFill>
            </a:endParaRPr>
          </a:p>
          <a:p>
            <a:pPr marL="0" indent="0">
              <a:buNone/>
            </a:pPr>
            <a:r>
              <a:rPr lang="en-US" altLang="zh-CN" sz="700" dirty="0">
                <a:solidFill>
                  <a:schemeClr val="bg1">
                    <a:lumMod val="75000"/>
                  </a:schemeClr>
                </a:solidFill>
              </a:rPr>
              <a:t>     </a:t>
            </a:r>
            <a:r>
              <a:rPr lang="en-US" altLang="en-US" sz="700" dirty="0">
                <a:solidFill>
                  <a:schemeClr val="bg1">
                    <a:lumMod val="75000"/>
                  </a:schemeClr>
                </a:solidFill>
              </a:rPr>
              <a:t>✓</a:t>
            </a:r>
            <a:r>
              <a:rPr lang="en-US" altLang="zh-CN" sz="700" dirty="0">
                <a:solidFill>
                  <a:schemeClr val="bg1">
                    <a:lumMod val="75000"/>
                  </a:schemeClr>
                </a:solidFill>
              </a:rPr>
              <a:t> 1.1 Add theme context provider</a:t>
            </a:r>
            <a:endParaRPr lang="en-US" altLang="zh-CN" sz="700" dirty="0">
              <a:solidFill>
                <a:schemeClr val="bg1">
                  <a:lumMod val="75000"/>
                </a:schemeClr>
              </a:solidFill>
            </a:endParaRPr>
          </a:p>
          <a:p>
            <a:pPr marL="0" indent="0">
              <a:buNone/>
            </a:pPr>
            <a:r>
              <a:rPr lang="en-US" altLang="zh-CN" sz="700" dirty="0">
                <a:solidFill>
                  <a:schemeClr val="bg1">
                    <a:lumMod val="75000"/>
                  </a:schemeClr>
                </a:solidFill>
              </a:rPr>
              <a:t>     </a:t>
            </a:r>
            <a:r>
              <a:rPr lang="en-US" altLang="en-US" sz="700" dirty="0">
                <a:solidFill>
                  <a:schemeClr val="bg1">
                    <a:lumMod val="75000"/>
                  </a:schemeClr>
                </a:solidFill>
              </a:rPr>
              <a:t>✓</a:t>
            </a:r>
            <a:r>
              <a:rPr lang="en-US" altLang="zh-CN" sz="700" dirty="0">
                <a:solidFill>
                  <a:schemeClr val="bg1">
                    <a:lumMod val="75000"/>
                  </a:schemeClr>
                </a:solidFill>
              </a:rPr>
              <a:t> 1.2 Create toggle component</a:t>
            </a:r>
            <a:endParaRPr lang="en-US" altLang="zh-CN" sz="700" dirty="0">
              <a:solidFill>
                <a:schemeClr val="bg1">
                  <a:lumMod val="75000"/>
                </a:schemeClr>
              </a:solidFill>
            </a:endParaRPr>
          </a:p>
          <a:p>
            <a:pPr marL="0" indent="0">
              <a:buNone/>
            </a:pPr>
            <a:r>
              <a:rPr lang="en-US" altLang="zh-CN" sz="700" dirty="0">
                <a:solidFill>
                  <a:schemeClr val="bg1">
                    <a:lumMod val="75000"/>
                  </a:schemeClr>
                </a:solidFill>
              </a:rPr>
              <a:t>     </a:t>
            </a:r>
            <a:r>
              <a:rPr lang="en-US" altLang="en-US" sz="700" dirty="0">
                <a:solidFill>
                  <a:schemeClr val="bg1">
                    <a:lumMod val="75000"/>
                  </a:schemeClr>
                </a:solidFill>
              </a:rPr>
              <a:t>✓</a:t>
            </a:r>
            <a:r>
              <a:rPr lang="en-US" altLang="zh-CN" sz="700" dirty="0">
                <a:solidFill>
                  <a:schemeClr val="bg1">
                    <a:lumMod val="75000"/>
                  </a:schemeClr>
                </a:solidFill>
              </a:rPr>
              <a:t> 2.1 Add CSS variables</a:t>
            </a:r>
            <a:endParaRPr lang="en-US" altLang="zh-CN" sz="700" dirty="0">
              <a:solidFill>
                <a:schemeClr val="bg1">
                  <a:lumMod val="75000"/>
                </a:schemeClr>
              </a:solidFill>
            </a:endParaRPr>
          </a:p>
          <a:p>
            <a:pPr marL="0" indent="0">
              <a:buNone/>
            </a:pPr>
            <a:r>
              <a:rPr lang="en-US" altLang="zh-CN" sz="700" dirty="0">
                <a:solidFill>
                  <a:schemeClr val="bg1">
                    <a:lumMod val="75000"/>
                  </a:schemeClr>
                </a:solidFill>
              </a:rPr>
              <a:t>     </a:t>
            </a:r>
            <a:r>
              <a:rPr lang="en-US" altLang="en-US" sz="700" dirty="0">
                <a:solidFill>
                  <a:schemeClr val="bg1">
                    <a:lumMod val="75000"/>
                  </a:schemeClr>
                </a:solidFill>
              </a:rPr>
              <a:t>✓</a:t>
            </a:r>
            <a:r>
              <a:rPr lang="en-US" altLang="zh-CN" sz="700" dirty="0">
                <a:solidFill>
                  <a:schemeClr val="bg1">
                    <a:lumMod val="75000"/>
                  </a:schemeClr>
                </a:solidFill>
              </a:rPr>
              <a:t> 2.2 Wire up localStorage</a:t>
            </a:r>
            <a:endParaRPr lang="en-US" altLang="zh-CN" sz="700" dirty="0">
              <a:solidFill>
                <a:schemeClr val="bg1">
                  <a:lumMod val="75000"/>
                </a:schemeClr>
              </a:solidFill>
            </a:endParaRPr>
          </a:p>
          <a:p>
            <a:pPr marL="0" indent="0">
              <a:buNone/>
            </a:pPr>
            <a:r>
              <a:rPr lang="en-US" altLang="zh-CN" sz="700" dirty="0">
                <a:solidFill>
                  <a:schemeClr val="bg1">
                    <a:lumMod val="75000"/>
                  </a:schemeClr>
                </a:solidFill>
              </a:rPr>
              <a:t>     All tasks complete!</a:t>
            </a:r>
            <a:endParaRPr lang="en-US" altLang="zh-CN" sz="700" dirty="0">
              <a:solidFill>
                <a:schemeClr val="bg1">
                  <a:lumMod val="75000"/>
                </a:schemeClr>
              </a:solidFill>
            </a:endParaRPr>
          </a:p>
          <a:p>
            <a:pPr marL="0" indent="0">
              <a:buNone/>
            </a:pPr>
            <a:endParaRPr lang="en-US" altLang="zh-CN" sz="700" dirty="0">
              <a:solidFill>
                <a:schemeClr val="bg1">
                  <a:lumMod val="75000"/>
                </a:schemeClr>
              </a:solidFill>
            </a:endParaRPr>
          </a:p>
          <a:p>
            <a:pPr marL="0" indent="0">
              <a:buNone/>
            </a:pPr>
            <a:r>
              <a:rPr lang="en-US" altLang="zh-CN" sz="700" dirty="0">
                <a:solidFill>
                  <a:schemeClr val="bg1">
                    <a:lumMod val="75000"/>
                  </a:schemeClr>
                </a:solidFill>
              </a:rPr>
              <a:t>You: /opsx:archive</a:t>
            </a:r>
            <a:endParaRPr lang="en-US" altLang="zh-CN" sz="700" dirty="0">
              <a:solidFill>
                <a:schemeClr val="bg1">
                  <a:lumMod val="75000"/>
                </a:schemeClr>
              </a:solidFill>
            </a:endParaRPr>
          </a:p>
          <a:p>
            <a:pPr marL="0" indent="0">
              <a:buNone/>
            </a:pPr>
            <a:r>
              <a:rPr lang="en-US" altLang="zh-CN" sz="700" dirty="0">
                <a:solidFill>
                  <a:schemeClr val="bg1">
                    <a:lumMod val="75000"/>
                  </a:schemeClr>
                </a:solidFill>
              </a:rPr>
              <a:t>AI:  Archived to openspec/changes/archive/2025-01-23-add-dark-mode/</a:t>
            </a:r>
            <a:endParaRPr lang="en-US" altLang="zh-CN" sz="700" dirty="0">
              <a:solidFill>
                <a:schemeClr val="bg1">
                  <a:lumMod val="75000"/>
                </a:schemeClr>
              </a:solidFill>
            </a:endParaRPr>
          </a:p>
          <a:p>
            <a:pPr marL="0" indent="0">
              <a:buNone/>
            </a:pPr>
            <a:r>
              <a:rPr lang="en-US" altLang="zh-CN" sz="700" dirty="0">
                <a:solidFill>
                  <a:schemeClr val="bg1">
                    <a:lumMod val="75000"/>
                  </a:schemeClr>
                </a:solidFill>
              </a:rPr>
              <a:t>     Specs updated. Ready for the next feature.</a:t>
            </a:r>
            <a:endParaRPr lang="en-US" altLang="zh-CN" sz="7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5" name="Text 3"/>
          <p:cNvSpPr/>
          <p:nvPr/>
        </p:nvSpPr>
        <p:spPr>
          <a:xfrm>
            <a:off x="5160645" y="1097280"/>
            <a:ext cx="320040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2563EB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这是给 AI 的“工程蓝图”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5354955" y="1760855"/>
            <a:ext cx="3200400" cy="1371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没有蓝图，AI 只能搬砖。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有了它，AI 变身架构师。</a:t>
            </a:r>
            <a:endParaRPr lang="en-US" sz="1600" dirty="0"/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4024630"/>
            <a:ext cx="8077835" cy="98996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0" y="-1828800"/>
            <a:ext cx="7315200" cy="7315200"/>
          </a:xfrm>
          <a:prstGeom prst="ellipse">
            <a:avLst/>
          </a:prstGeom>
          <a:solidFill>
            <a:srgbClr val="8B5CF6">
              <a:alpha val="10000"/>
            </a:srgbClr>
          </a:solidFill>
        </p:spPr>
      </p:sp>
      <p:sp>
        <p:nvSpPr>
          <p:cNvPr id="3" name="Text 1"/>
          <p:cNvSpPr/>
          <p:nvPr/>
        </p:nvSpPr>
        <p:spPr>
          <a:xfrm>
            <a:off x="731520" y="1371600"/>
            <a:ext cx="1828800" cy="914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0" b="1" dirty="0">
                <a:solidFill>
                  <a:srgbClr val="8B5CF6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04</a:t>
            </a:r>
            <a:endParaRPr lang="en-US" sz="8000" dirty="0"/>
          </a:p>
        </p:txBody>
      </p:sp>
      <p:sp>
        <p:nvSpPr>
          <p:cNvPr id="4" name="Text 2"/>
          <p:cNvSpPr/>
          <p:nvPr/>
        </p:nvSpPr>
        <p:spPr>
          <a:xfrm>
            <a:off x="731520" y="2560320"/>
            <a:ext cx="731520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1E293B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未来已来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731520" y="3383280"/>
            <a:ext cx="73152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打造你的钢铁侠战衣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20040"/>
            <a:ext cx="731520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93B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自动化流水线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2743200" y="1371600"/>
            <a:ext cx="3657600" cy="2286000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4A3B8"/>
            </a:solidFill>
            <a:prstDash val="dash"/>
          </a:ln>
        </p:spPr>
      </p:sp>
      <p:sp>
        <p:nvSpPr>
          <p:cNvPr id="4" name="Shape 2"/>
          <p:cNvSpPr/>
          <p:nvPr/>
        </p:nvSpPr>
        <p:spPr>
          <a:xfrm>
            <a:off x="1371600" y="2286000"/>
            <a:ext cx="1645920" cy="91440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2563EB"/>
            </a:solidFill>
            <a:prstDash val="solid"/>
          </a:ln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371600" y="2423160"/>
            <a:ext cx="164592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293B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💡 设计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371600" y="2788920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OpenSpec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657600" y="1371600"/>
            <a:ext cx="1645920" cy="91440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06B6D4"/>
            </a:solidFill>
            <a:prstDash val="solid"/>
          </a:ln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657600" y="1508760"/>
            <a:ext cx="164592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293B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⚡ 开发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3657600" y="1874520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Coding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943600" y="2286000"/>
            <a:ext cx="1645920" cy="91440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F59E0B"/>
            </a:solidFill>
            <a:prstDash val="solid"/>
          </a:ln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943600" y="2423160"/>
            <a:ext cx="164592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293B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🧪 测试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943600" y="2788920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 Test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657600" y="3200400"/>
            <a:ext cx="1645920" cy="91440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8B5CF6"/>
            </a:solidFill>
            <a:prstDash val="solid"/>
          </a:ln>
          <a:effectLst>
            <a:outerShdw blurRad="101600" dist="381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3657600" y="3337560"/>
            <a:ext cx="164592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293B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✅ 验证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3657600" y="3703320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0" y="914400"/>
            <a:ext cx="3657600" cy="3657600"/>
          </a:xfrm>
          <a:prstGeom prst="ellipse">
            <a:avLst/>
          </a:prstGeom>
          <a:solidFill>
            <a:srgbClr val="DBEAFE">
              <a:alpha val="30000"/>
            </a:srgbClr>
          </a:solidFill>
        </p:spPr>
      </p:sp>
      <p:sp>
        <p:nvSpPr>
          <p:cNvPr id="3" name="Text 1"/>
          <p:cNvSpPr/>
          <p:nvPr/>
        </p:nvSpPr>
        <p:spPr>
          <a:xfrm>
            <a:off x="0" y="1828800"/>
            <a:ext cx="9144000" cy="914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0" b="1" dirty="0">
                <a:solidFill>
                  <a:srgbClr val="2563EB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Let's Build.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0" y="2926080"/>
            <a:ext cx="91440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人机协作，未来已来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0" y="4114800"/>
            <a:ext cx="91440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59E0B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Q &amp; A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1702</Words>
  <Application>WPS 演示</Application>
  <PresentationFormat>On-screen Show (16:9)</PresentationFormat>
  <Paragraphs>237</Paragraphs>
  <Slides>14</Slides>
  <Notes>14</Notes>
  <HiddenSlides>0</HiddenSlides>
  <MMClips>0</MMClips>
  <ScaleCrop>false</ScaleCrop>
  <HeadingPairs>
    <vt:vector size="6" baseType="variant">
      <vt:variant>
        <vt:lpstr>已用的字体</vt:lpstr>
      </vt:variant>
      <vt:variant>
        <vt:i4>23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14</vt:i4>
      </vt:variant>
    </vt:vector>
  </HeadingPairs>
  <TitlesOfParts>
    <vt:vector size="38" baseType="lpstr">
      <vt:lpstr>Arial</vt:lpstr>
      <vt:lpstr>宋体</vt:lpstr>
      <vt:lpstr>Wingdings</vt:lpstr>
      <vt:lpstr>Arial Black</vt:lpstr>
      <vt:lpstr>Arial Black</vt:lpstr>
      <vt:lpstr>Arial Black</vt:lpstr>
      <vt:lpstr>Calibri</vt:lpstr>
      <vt:lpstr>Helvetica Neue</vt:lpstr>
      <vt:lpstr>Calibri</vt:lpstr>
      <vt:lpstr>Calibri</vt:lpstr>
      <vt:lpstr>Arial</vt:lpstr>
      <vt:lpstr>Consolas</vt:lpstr>
      <vt:lpstr>Consolas</vt:lpstr>
      <vt:lpstr>Consolas</vt:lpstr>
      <vt:lpstr>汉仪书宋二KW</vt:lpstr>
      <vt:lpstr>苹方-简</vt:lpstr>
      <vt:lpstr>宋体</vt:lpstr>
      <vt:lpstr>微软雅黑</vt:lpstr>
      <vt:lpstr>汉仪旗黑</vt:lpstr>
      <vt:lpstr>Arial Unicode MS</vt:lpstr>
      <vt:lpstr>等线</vt:lpstr>
      <vt:lpstr>汉仪中等线KW</vt:lpstr>
      <vt:lpstr>Apple Color Emoji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编程：解锁超级生产力</dc:title>
  <dc:creator>AI Coding Team</dc:creator>
  <dc:subject>PptxGenJS Presentation</dc:subject>
  <cp:lastModifiedBy>lengzhifeng</cp:lastModifiedBy>
  <cp:revision>8</cp:revision>
  <dcterms:created xsi:type="dcterms:W3CDTF">2026-02-06T09:30:52Z</dcterms:created>
  <dcterms:modified xsi:type="dcterms:W3CDTF">2026-02-06T09:30:52Z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2052-12.1.24031.24031</vt:lpwstr>
  </property>
  <property fmtid="{D5CDD505-2E9C-101B-9397-08002B2CF9AE}" pid="3" name="ICV">
    <vt:lpwstr>9351610F17777C2816AF856913DBB5FD_42</vt:lpwstr>
  </property>
</Properties>
</file>