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效率提升感知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1E293B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陈汉刚
(&lt;1年)</c:v>
                </c:pt>
                <c:pt idx="1">
                  <c:v>简相朋
(3-5年)</c:v>
                </c:pt>
                <c:pt idx="2">
                  <c:v>朱春盛
(5-10年)</c:v>
                </c:pt>
                <c:pt idx="3">
                  <c:v>褚进
(10年+)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</c:v>
                </c:pt>
                <c:pt idx="1">
                  <c:v>35</c:v>
                </c:pt>
                <c:pt idx="2">
                  <c:v>15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4748B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</c:scaling>
        <c:delete val="0"/>
        <c:axPos val="l"/>
        <c:majorGridlines>
          <c:spPr>
            <a:ln w="6350" cap="flat" cmpd="sng" algn="ctr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4748B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44e54ce8-cddb-4222-ab00-8210384eac67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hyperlink" Target="https://metr.org/Early_2025_AI_Experienced_OS_Devs_Study.pdf" TargetMode="External"/><Relationship Id="rId1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3" name="Shape 1"/>
          <p:cNvSpPr/>
          <p:nvPr/>
        </p:nvSpPr>
        <p:spPr>
          <a:xfrm flipH="1">
            <a:off x="687070" y="1097280"/>
            <a:ext cx="76200" cy="2666365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4" name="Text 2"/>
          <p:cNvSpPr/>
          <p:nvPr/>
        </p:nvSpPr>
        <p:spPr>
          <a:xfrm>
            <a:off x="1097280" y="1097280"/>
            <a:ext cx="685800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AI 编程的常识与认知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097280" y="2286000"/>
            <a:ext cx="6858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 AI 编程助手的能力边界，才能更好地驾驭它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329184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冷志峰</a:t>
            </a:r>
            <a:r>
              <a:rPr lang="en-US" altLang="zh-CN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2 月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8" name="Text 6"/>
          <p:cNvSpPr/>
          <p:nvPr/>
        </p:nvSpPr>
        <p:spPr>
          <a:xfrm>
            <a:off x="731520" y="4709160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是工具，人是主导。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分享大纲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457200" cy="457200"/>
          </a:xfrm>
          <a:prstGeom prst="ellipse">
            <a:avLst/>
          </a:prstGeom>
          <a:solidFill>
            <a:srgbClr val="3B82F6"/>
          </a:solidFill>
        </p:spPr>
      </p:sp>
      <p:sp>
        <p:nvSpPr>
          <p:cNvPr id="4" name="Text 2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25880" y="12801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团队调研洞察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25880" y="1600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编程使用现状与关键发现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498080" y="1371600"/>
            <a:ext cx="822960" cy="320040"/>
          </a:xfrm>
          <a:prstGeom prst="rect">
            <a:avLst/>
          </a:prstGeom>
          <a:solidFill>
            <a:srgbClr val="3B82F6">
              <a:alpha val="15000"/>
            </a:srgbClr>
          </a:solidFill>
        </p:spPr>
      </p:sp>
      <p:sp>
        <p:nvSpPr>
          <p:cNvPr id="8" name="Text 6"/>
          <p:cNvSpPr/>
          <p:nvPr/>
        </p:nvSpPr>
        <p:spPr>
          <a:xfrm>
            <a:off x="7498080" y="1371600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039112"/>
            <a:ext cx="457200" cy="457200"/>
          </a:xfrm>
          <a:prstGeom prst="ellipse">
            <a:avLst/>
          </a:prstGeom>
          <a:solidFill>
            <a:srgbClr val="0D9488"/>
          </a:solidFill>
        </p:spPr>
      </p:sp>
      <p:sp>
        <p:nvSpPr>
          <p:cNvPr id="10" name="Text 8"/>
          <p:cNvSpPr/>
          <p:nvPr/>
        </p:nvSpPr>
        <p:spPr>
          <a:xfrm>
            <a:off x="640080" y="203911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25880" y="1993392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认知篇：理解 AI 本质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31343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工作原理、能力边界与常见陷阱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98080" y="2084832"/>
            <a:ext cx="822960" cy="320040"/>
          </a:xfrm>
          <a:prstGeom prst="rect">
            <a:avLst/>
          </a:prstGeom>
          <a:solidFill>
            <a:srgbClr val="0D9488">
              <a:alpha val="15000"/>
            </a:srgbClr>
          </a:solidFill>
        </p:spPr>
      </p:sp>
      <p:sp>
        <p:nvSpPr>
          <p:cNvPr id="14" name="Text 12"/>
          <p:cNvSpPr/>
          <p:nvPr/>
        </p:nvSpPr>
        <p:spPr>
          <a:xfrm>
            <a:off x="7498080" y="2084832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752344"/>
            <a:ext cx="457200" cy="457200"/>
          </a:xfrm>
          <a:prstGeom prst="ellipse">
            <a:avLst/>
          </a:prstGeom>
          <a:solidFill>
            <a:srgbClr val="F97316"/>
          </a:solidFill>
        </p:spPr>
      </p:sp>
      <p:sp>
        <p:nvSpPr>
          <p:cNvPr id="16" name="Text 14"/>
          <p:cNvSpPr/>
          <p:nvPr/>
        </p:nvSpPr>
        <p:spPr>
          <a:xfrm>
            <a:off x="640080" y="275234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25880" y="2706624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实践篇：最佳实践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3026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核心原则、RULES.md、分步骤执行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498080" y="2798064"/>
            <a:ext cx="822960" cy="320040"/>
          </a:xfrm>
          <a:prstGeom prst="rect">
            <a:avLst/>
          </a:prstGeom>
          <a:solidFill>
            <a:srgbClr val="F97316">
              <a:alpha val="15000"/>
            </a:srgbClr>
          </a:solidFill>
        </p:spPr>
      </p:sp>
      <p:sp>
        <p:nvSpPr>
          <p:cNvPr id="20" name="Text 18"/>
          <p:cNvSpPr/>
          <p:nvPr/>
        </p:nvSpPr>
        <p:spPr>
          <a:xfrm>
            <a:off x="7498080" y="2798064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3465576"/>
            <a:ext cx="457200" cy="457200"/>
          </a:xfrm>
          <a:prstGeom prst="ellipse">
            <a:avLst/>
          </a:prstGeom>
          <a:solidFill>
            <a:srgbClr val="8B5CF6"/>
          </a:solidFill>
        </p:spPr>
      </p:sp>
      <p:sp>
        <p:nvSpPr>
          <p:cNvPr id="22" name="Text 20"/>
          <p:cNvSpPr/>
          <p:nvPr/>
        </p:nvSpPr>
        <p:spPr>
          <a:xfrm>
            <a:off x="640080" y="346557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25880" y="3419856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工程化篇：设计先行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25880" y="373989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全流程闭环与 AI 工程设计流程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498080" y="3511296"/>
            <a:ext cx="822960" cy="320040"/>
          </a:xfrm>
          <a:prstGeom prst="rect">
            <a:avLst/>
          </a:prstGeom>
          <a:solidFill>
            <a:srgbClr val="8B5CF6">
              <a:alpha val="15000"/>
            </a:srgbClr>
          </a:solidFill>
        </p:spPr>
      </p:sp>
      <p:sp>
        <p:nvSpPr>
          <p:cNvPr id="26" name="Text 24"/>
          <p:cNvSpPr/>
          <p:nvPr/>
        </p:nvSpPr>
        <p:spPr>
          <a:xfrm>
            <a:off x="7498080" y="3511296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178808"/>
            <a:ext cx="457200" cy="457200"/>
          </a:xfrm>
          <a:prstGeom prst="ellipse">
            <a:avLst/>
          </a:prstGeom>
          <a:solidFill>
            <a:srgbClr val="EF4444"/>
          </a:solidFill>
        </p:spPr>
      </p:sp>
      <p:sp>
        <p:nvSpPr>
          <p:cNvPr id="28" name="Text 26"/>
          <p:cNvSpPr/>
          <p:nvPr/>
        </p:nvSpPr>
        <p:spPr>
          <a:xfrm>
            <a:off x="640080" y="417880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325880" y="4133088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总结与讨论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25880" y="44531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行动建议与 Q&amp;A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498080" y="4224528"/>
            <a:ext cx="822960" cy="320040"/>
          </a:xfrm>
          <a:prstGeom prst="rect">
            <a:avLst/>
          </a:prstGeom>
          <a:solidFill>
            <a:srgbClr val="EF4444">
              <a:alpha val="15000"/>
            </a:srgbClr>
          </a:solidFill>
        </p:spPr>
      </p:sp>
      <p:sp>
        <p:nvSpPr>
          <p:cNvPr id="32" name="Text 30"/>
          <p:cNvSpPr/>
          <p:nvPr/>
        </p:nvSpPr>
        <p:spPr>
          <a:xfrm>
            <a:off x="7498080" y="42245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3B82F6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团队调研洞察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编程助手使用现状与关键发现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调研关键发现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92024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192024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5" name="Text 3"/>
          <p:cNvSpPr/>
          <p:nvPr/>
        </p:nvSpPr>
        <p:spPr>
          <a:xfrm>
            <a:off x="457200" y="128016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3B82F6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100%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工具采用率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全员使用中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06040" y="1097280"/>
            <a:ext cx="192024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606040" y="1097280"/>
            <a:ext cx="1920240" cy="54864"/>
          </a:xfrm>
          <a:prstGeom prst="rect">
            <a:avLst/>
          </a:prstGeom>
          <a:solidFill>
            <a:srgbClr val="0D9488"/>
          </a:solidFill>
        </p:spPr>
      </p:sp>
      <p:sp>
        <p:nvSpPr>
          <p:cNvPr id="10" name="Text 8"/>
          <p:cNvSpPr/>
          <p:nvPr/>
        </p:nvSpPr>
        <p:spPr>
          <a:xfrm>
            <a:off x="2606040" y="128016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D9488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50%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606040" y="192024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每日高频使用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060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每天多次使用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097280"/>
            <a:ext cx="192024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097280"/>
            <a:ext cx="1920240" cy="54864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5" name="Text 13"/>
          <p:cNvSpPr/>
          <p:nvPr/>
        </p:nvSpPr>
        <p:spPr>
          <a:xfrm>
            <a:off x="4754880" y="128016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59E0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25%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4754880" y="192024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高度信任 AI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仅 1/4 大部分信任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03720" y="1097280"/>
            <a:ext cx="192024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903720" y="1097280"/>
            <a:ext cx="1920240" cy="54864"/>
          </a:xfrm>
          <a:prstGeom prst="rect">
            <a:avLst/>
          </a:prstGeom>
          <a:solidFill>
            <a:srgbClr val="F97316"/>
          </a:solidFill>
        </p:spPr>
      </p:sp>
      <p:sp>
        <p:nvSpPr>
          <p:cNvPr id="20" name="Text 18"/>
          <p:cNvSpPr/>
          <p:nvPr/>
        </p:nvSpPr>
        <p:spPr>
          <a:xfrm>
            <a:off x="6903720" y="128016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97316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75%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6903720" y="192024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持保守期望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0372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定位为辅助工具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834640"/>
            <a:ext cx="8229600" cy="1005840"/>
          </a:xfrm>
          <a:prstGeom prst="rect">
            <a:avLst/>
          </a:prstGeom>
          <a:solidFill>
            <a:srgbClr val="DBEAFE"/>
          </a:solidFill>
        </p:spPr>
      </p:sp>
      <p:sp>
        <p:nvSpPr>
          <p:cNvPr id="24" name="Shape 22"/>
          <p:cNvSpPr/>
          <p:nvPr/>
        </p:nvSpPr>
        <p:spPr>
          <a:xfrm>
            <a:off x="457200" y="2834640"/>
            <a:ext cx="54864" cy="10058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25" name="Text 23"/>
          <p:cNvSpPr/>
          <p:nvPr/>
        </p:nvSpPr>
        <p:spPr>
          <a:xfrm>
            <a:off x="777240" y="288036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核心发现：经验光谱效应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7240" y="3200400"/>
            <a:ext cx="77724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经验越浅的开发者，使用频率越高、效率感知越强、信任度也越高。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这一模式与行业研究中发现的 "AI 生产力悖论" 高度吻合。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023360"/>
            <a:ext cx="3931920" cy="8229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0080" y="406908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共识场景
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代码补全 + Bug 修复（所有人都在用）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54880" y="4023360"/>
            <a:ext cx="3931920" cy="8229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937760" y="406908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进阶工具认知不足
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不了解 Cursor Rules 等进阶工具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AI 生产力悖论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开发经验、使用频率与效率感知之间的反直觉关系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280160"/>
          <a:ext cx="438912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303520" y="1280160"/>
            <a:ext cx="3378835" cy="1449705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303520" y="1280160"/>
            <a:ext cx="76200" cy="1449705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7" name="Text 4"/>
          <p:cNvSpPr/>
          <p:nvPr/>
        </p:nvSpPr>
        <p:spPr>
          <a:xfrm>
            <a:off x="5532120" y="1318895"/>
            <a:ext cx="2926080" cy="13823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tooltip="" action="ppaction://hlinkfile"/>
              </a:rPr>
              <a:t>METR 2025 研究发现</a:t>
            </a: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让资深开发者速度降低 19%
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但开发者自认为快了 20%
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存在 39% 的感知偏差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292090" y="2912745"/>
            <a:ext cx="3406140" cy="1293495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292090" y="2912110"/>
            <a:ext cx="76200" cy="1294130"/>
          </a:xfrm>
          <a:prstGeom prst="rect">
            <a:avLst/>
          </a:prstGeom>
          <a:solidFill>
            <a:srgbClr val="F59E0B"/>
          </a:solidFill>
        </p:spPr>
        <p:txBody>
          <a:bodyPr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5532120" y="2834640"/>
            <a:ext cx="292608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深层原因
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资深开发者已有高效工作流，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引入的额外步骤中断了心流。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初级开发者原缺乏积累，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填补了知识空白。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448056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2025：采用率 76%→84%↑，信任度 40%→29%↓ —— "剪刀差" 式分化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3B82F6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认知篇：理解 AI 本质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编程助手到底是如何工作的？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AI 的工作原理：下一个 Token 预测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011680" cy="640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4" name="Text 2"/>
          <p:cNvSpPr/>
          <p:nvPr/>
        </p:nvSpPr>
        <p:spPr>
          <a:xfrm>
            <a:off x="457200" y="118872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输入序列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468880" y="1188720"/>
            <a:ext cx="457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926080" y="1188720"/>
            <a:ext cx="3291840" cy="640080"/>
          </a:xfrm>
          <a:prstGeom prst="rect">
            <a:avLst/>
          </a:prstGeom>
          <a:solidFill>
            <a:srgbClr val="F97316"/>
          </a:solidFill>
        </p:spPr>
      </p:sp>
      <p:sp>
        <p:nvSpPr>
          <p:cNvPr id="7" name="Text 5"/>
          <p:cNvSpPr/>
          <p:nvPr/>
        </p:nvSpPr>
        <p:spPr>
          <a:xfrm>
            <a:off x="2926080" y="1188720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预测下一个最可能的 Token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217920" y="1188720"/>
            <a:ext cx="457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675120" y="1188720"/>
            <a:ext cx="2011680" cy="640080"/>
          </a:xfrm>
          <a:prstGeom prst="rect">
            <a:avLst/>
          </a:prstGeom>
          <a:solidFill>
            <a:srgbClr val="0D9488"/>
          </a:solidFill>
        </p:spPr>
      </p:sp>
      <p:sp>
        <p:nvSpPr>
          <p:cNvPr id="10" name="Text 8"/>
          <p:cNvSpPr/>
          <p:nvPr/>
        </p:nvSpPr>
        <p:spPr>
          <a:xfrm>
            <a:off x="6675120" y="118872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输出序列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20574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关键理解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1665" y="2364740"/>
            <a:ext cx="4458970" cy="10471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285750" indent="-285750">
              <a:spcAft>
                <a:spcPts val="600"/>
              </a:spcAft>
              <a:buSzPct val="100000"/>
              <a:buFont typeface="Arial" panose="020B0604020202090204" pitchFamily="34" charset="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不是在"思考"或"推理"，而是在做统计性的模式匹配</a:t>
            </a:r>
            <a:endParaRPr lang="en-US" sz="1300" dirty="0"/>
          </a:p>
          <a:p>
            <a:pPr marL="285750" indent="-285750">
              <a:spcAft>
                <a:spcPts val="600"/>
              </a:spcAft>
              <a:buSzPct val="100000"/>
              <a:buFont typeface="Arial" panose="020B0604020202090204" pitchFamily="34" charset="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从海量代码中学习了"什么代码通常跟在什么代码后面"</a:t>
            </a:r>
            <a:endParaRPr lang="en-US" sz="13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spcAft>
                <a:spcPts val="600"/>
              </a:spcAft>
              <a:buSzPct val="100000"/>
              <a:buFont typeface="Arial" panose="020B0604020202090204" pitchFamily="34" charset="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每次生成都是概率采样，相同输入可能产生不同输出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574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核心机制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0" y="2468880"/>
            <a:ext cx="3657600" cy="438912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5" name="Text 13"/>
          <p:cNvSpPr/>
          <p:nvPr/>
        </p:nvSpPr>
        <p:spPr>
          <a:xfrm>
            <a:off x="5120640" y="2468880"/>
            <a:ext cx="12801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上下文窗口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2468880"/>
            <a:ext cx="21945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信息量有限，超长对话信息被截断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0" y="2971800"/>
            <a:ext cx="3657600" cy="438912"/>
          </a:xfrm>
          <a:prstGeom prst="rect">
            <a:avLst/>
          </a:prstGeom>
          <a:solidFill>
            <a:srgbClr val="F1F5F9"/>
          </a:solidFill>
        </p:spPr>
      </p:sp>
      <p:sp>
        <p:nvSpPr>
          <p:cNvPr id="18" name="Text 16"/>
          <p:cNvSpPr/>
          <p:nvPr/>
        </p:nvSpPr>
        <p:spPr>
          <a:xfrm>
            <a:off x="5120640" y="2971800"/>
            <a:ext cx="12801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自回归生成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2971800"/>
            <a:ext cx="21945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早期错误会"滚雪球"越错越远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0" y="3474720"/>
            <a:ext cx="3657600" cy="438912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1" name="Text 19"/>
          <p:cNvSpPr/>
          <p:nvPr/>
        </p:nvSpPr>
        <p:spPr>
          <a:xfrm>
            <a:off x="5120640" y="3474720"/>
            <a:ext cx="12801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概率采样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0" y="3474720"/>
            <a:ext cx="21945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相同提示可能产生不同结果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0" y="3977640"/>
            <a:ext cx="3657600" cy="438912"/>
          </a:xfrm>
          <a:prstGeom prst="rect">
            <a:avLst/>
          </a:prstGeom>
          <a:solidFill>
            <a:srgbClr val="F1F5F9"/>
          </a:solidFill>
        </p:spPr>
      </p:sp>
      <p:sp>
        <p:nvSpPr>
          <p:cNvPr id="24" name="Text 22"/>
          <p:cNvSpPr/>
          <p:nvPr/>
        </p:nvSpPr>
        <p:spPr>
          <a:xfrm>
            <a:off x="5120640" y="3977640"/>
            <a:ext cx="12801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训练数据依赖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0" y="3977640"/>
            <a:ext cx="21945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罕见场景表现差，常见场景表现好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602480"/>
            <a:ext cx="8229600" cy="433070"/>
          </a:xfrm>
          <a:prstGeom prst="rect">
            <a:avLst/>
          </a:prstGeom>
          <a:solidFill>
            <a:srgbClr val="0F172A"/>
          </a:solidFill>
        </p:spPr>
      </p:sp>
      <p:sp>
        <p:nvSpPr>
          <p:cNvPr id="27" name="Text 25"/>
          <p:cNvSpPr/>
          <p:nvPr/>
        </p:nvSpPr>
        <p:spPr>
          <a:xfrm>
            <a:off x="731520" y="4599305"/>
            <a:ext cx="7772400" cy="476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形象比喻：传统补全  print( → print()  |  AI 补全  "读取文件并写入数据库" → [完整的实现代码]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AI 的能力边界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2830"/>
            <a:ext cx="3931920" cy="3683635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51560"/>
            <a:ext cx="3931920" cy="50292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5" name="Text 3"/>
          <p:cNvSpPr/>
          <p:nvPr/>
        </p:nvSpPr>
        <p:spPr>
          <a:xfrm>
            <a:off x="457200" y="1051560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擅长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791970"/>
            <a:ext cx="3474720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功能函数与工具方法
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代码补全与模式匹配
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代码解释与文档生成
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样板代码与配置生成
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代码重构辅助
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辅助与错误分析
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正则表达式与复杂语法
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测试场景设计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51560"/>
            <a:ext cx="3931920" cy="3684905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51560"/>
            <a:ext cx="3931920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9" name="Text 7"/>
          <p:cNvSpPr/>
          <p:nvPr/>
        </p:nvSpPr>
        <p:spPr>
          <a:xfrm>
            <a:off x="4754880" y="1051560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AI 不擅长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1645920"/>
            <a:ext cx="3474720" cy="30435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原创性架构设计与算法发明
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精确数学计算与逻辑推理
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深度业务理解与领域知识
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跨会话记忆与全局项目视角
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主动探索项目结构
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最新技术与 API 的准确性
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安全性最佳实践
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代码一致性与风格统一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737735"/>
            <a:ext cx="7315200" cy="291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是高效的代码生成工具，而非架构师或创新者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AI 编程的 9 大常见陷阱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按因果关系排序：根源问题 → 模型固有 → 实现质量 → 专项风险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606040" cy="10515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43000"/>
            <a:ext cx="54864" cy="105156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6" name="Text 4"/>
          <p:cNvSpPr/>
          <p:nvPr/>
        </p:nvSpPr>
        <p:spPr>
          <a:xfrm>
            <a:off x="594360" y="123444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234440"/>
            <a:ext cx="320040" cy="320040"/>
          </a:xfrm>
          <a:prstGeom prst="ellipse">
            <a:avLst/>
          </a:prstGeom>
          <a:solidFill>
            <a:srgbClr val="EF4444"/>
          </a:solidFill>
        </p:spPr>
      </p:sp>
      <p:sp>
        <p:nvSpPr>
          <p:cNvPr id="8" name="Text 6"/>
          <p:cNvSpPr/>
          <p:nvPr/>
        </p:nvSpPr>
        <p:spPr>
          <a:xfrm>
            <a:off x="594360" y="123444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23444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上下文丢失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160020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长对话遗忘早期信息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187452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143000"/>
            <a:ext cx="2606040" cy="10515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143000"/>
            <a:ext cx="54864" cy="105156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4" name="Text 12"/>
          <p:cNvSpPr/>
          <p:nvPr/>
        </p:nvSpPr>
        <p:spPr>
          <a:xfrm>
            <a:off x="3429000" y="123444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29000" y="1234440"/>
            <a:ext cx="320040" cy="320040"/>
          </a:xfrm>
          <a:prstGeom prst="ellipse">
            <a:avLst/>
          </a:prstGeom>
          <a:solidFill>
            <a:srgbClr val="EF4444"/>
          </a:solidFill>
        </p:spPr>
      </p:sp>
      <p:sp>
        <p:nvSpPr>
          <p:cNvPr id="16" name="Text 14"/>
          <p:cNvSpPr/>
          <p:nvPr/>
        </p:nvSpPr>
        <p:spPr>
          <a:xfrm>
            <a:off x="3429000" y="123444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840480" y="123444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缺乏全局观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840480" y="160020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只看当前上下文，重复造轮子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0" y="187452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根源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126480" y="1143000"/>
            <a:ext cx="2606040" cy="10515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0" y="1143000"/>
            <a:ext cx="54864" cy="1051560"/>
          </a:xfrm>
          <a:prstGeom prst="rect">
            <a:avLst/>
          </a:prstGeom>
          <a:solidFill>
            <a:srgbClr val="F97316"/>
          </a:solidFill>
        </p:spPr>
      </p:sp>
      <p:sp>
        <p:nvSpPr>
          <p:cNvPr id="22" name="Text 20"/>
          <p:cNvSpPr/>
          <p:nvPr/>
        </p:nvSpPr>
        <p:spPr>
          <a:xfrm>
            <a:off x="6263640" y="123444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63640" y="1234440"/>
            <a:ext cx="320040" cy="320040"/>
          </a:xfrm>
          <a:prstGeom prst="ellipse">
            <a:avLst/>
          </a:prstGeom>
          <a:solidFill>
            <a:srgbClr val="F97316"/>
          </a:solidFill>
        </p:spPr>
      </p:sp>
      <p:sp>
        <p:nvSpPr>
          <p:cNvPr id="24" name="Text 22"/>
          <p:cNvSpPr/>
          <p:nvPr/>
        </p:nvSpPr>
        <p:spPr>
          <a:xfrm>
            <a:off x="6263640" y="123444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75120" y="123444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幻觉与虚构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675120" y="160020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编造不存在的 API/库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675120" y="187452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2377440"/>
            <a:ext cx="2606040" cy="10515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2377440"/>
            <a:ext cx="54864" cy="1051560"/>
          </a:xfrm>
          <a:prstGeom prst="rect">
            <a:avLst/>
          </a:prstGeom>
          <a:solidFill>
            <a:srgbClr val="F97316"/>
          </a:solidFill>
        </p:spPr>
      </p:sp>
      <p:sp>
        <p:nvSpPr>
          <p:cNvPr id="30" name="Text 28"/>
          <p:cNvSpPr/>
          <p:nvPr/>
        </p:nvSpPr>
        <p:spPr>
          <a:xfrm>
            <a:off x="594360" y="24688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94360" y="2468880"/>
            <a:ext cx="320040" cy="320040"/>
          </a:xfrm>
          <a:prstGeom prst="ellipse">
            <a:avLst/>
          </a:prstGeom>
          <a:solidFill>
            <a:srgbClr val="F97316"/>
          </a:solidFill>
        </p:spPr>
      </p:sp>
      <p:sp>
        <p:nvSpPr>
          <p:cNvPr id="32" name="Text 30"/>
          <p:cNvSpPr/>
          <p:nvPr/>
        </p:nvSpPr>
        <p:spPr>
          <a:xfrm>
            <a:off x="594360" y="24688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05840" y="24688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过时的知识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05840" y="283464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推荐已弃用的方案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005840" y="310896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1840" y="2377440"/>
            <a:ext cx="2606040" cy="10515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291840" y="2377440"/>
            <a:ext cx="54864" cy="105156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38" name="Text 36"/>
          <p:cNvSpPr/>
          <p:nvPr/>
        </p:nvSpPr>
        <p:spPr>
          <a:xfrm>
            <a:off x="3429000" y="24688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429000" y="2468880"/>
            <a:ext cx="320040" cy="32004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40" name="Text 38"/>
          <p:cNvSpPr/>
          <p:nvPr/>
        </p:nvSpPr>
        <p:spPr>
          <a:xfrm>
            <a:off x="3429000" y="24688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840480" y="24688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缺乏一致性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3840480" y="283464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代码风格与实现不统一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840480" y="310896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126480" y="2377440"/>
            <a:ext cx="2606040" cy="10515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126480" y="2377440"/>
            <a:ext cx="54864" cy="105156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46" name="Text 44"/>
          <p:cNvSpPr/>
          <p:nvPr/>
        </p:nvSpPr>
        <p:spPr>
          <a:xfrm>
            <a:off x="6263640" y="24688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263640" y="2468880"/>
            <a:ext cx="320040" cy="32004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48" name="Text 46"/>
          <p:cNvSpPr/>
          <p:nvPr/>
        </p:nvSpPr>
        <p:spPr>
          <a:xfrm>
            <a:off x="6263640" y="24688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675120" y="24688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自由发挥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675120" y="283464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随意选择实现方式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675120" y="310896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57200" y="3611880"/>
            <a:ext cx="2606040" cy="10515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457200" y="3611880"/>
            <a:ext cx="54864" cy="105156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54" name="Text 52"/>
          <p:cNvSpPr/>
          <p:nvPr/>
        </p:nvSpPr>
        <p:spPr>
          <a:xfrm>
            <a:off x="594360" y="370332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594360" y="3703320"/>
            <a:ext cx="320040" cy="32004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56" name="Text 54"/>
          <p:cNvSpPr/>
          <p:nvPr/>
        </p:nvSpPr>
        <p:spPr>
          <a:xfrm>
            <a:off x="594360" y="370332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005840" y="370332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过度工程化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1005840" y="406908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不必要的复杂设计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1005840" y="434340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291840" y="3611880"/>
            <a:ext cx="2606040" cy="10515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3291840" y="3611880"/>
            <a:ext cx="54864" cy="105156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62" name="Text 60"/>
          <p:cNvSpPr/>
          <p:nvPr/>
        </p:nvSpPr>
        <p:spPr>
          <a:xfrm>
            <a:off x="3429000" y="370332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3429000" y="3703320"/>
            <a:ext cx="320040" cy="320040"/>
          </a:xfrm>
          <a:prstGeom prst="ellipse">
            <a:avLst/>
          </a:prstGeom>
          <a:solidFill>
            <a:srgbClr val="8B5CF6"/>
          </a:solidFill>
        </p:spPr>
      </p:sp>
      <p:sp>
        <p:nvSpPr>
          <p:cNvPr id="64" name="Text 62"/>
          <p:cNvSpPr/>
          <p:nvPr/>
        </p:nvSpPr>
        <p:spPr>
          <a:xfrm>
            <a:off x="3429000" y="370332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65" name="Text 63"/>
          <p:cNvSpPr/>
          <p:nvPr/>
        </p:nvSpPr>
        <p:spPr>
          <a:xfrm>
            <a:off x="3840480" y="370332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执行不完整</a:t>
            </a:r>
            <a:endParaRPr lang="en-US" sz="1400" dirty="0"/>
          </a:p>
        </p:txBody>
      </p:sp>
      <p:sp>
        <p:nvSpPr>
          <p:cNvPr id="66" name="Text 64"/>
          <p:cNvSpPr/>
          <p:nvPr/>
        </p:nvSpPr>
        <p:spPr>
          <a:xfrm>
            <a:off x="3840480" y="406908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任务未完成就宣布结束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3840480" y="434340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126480" y="3611880"/>
            <a:ext cx="2606040" cy="10515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6126480" y="3611880"/>
            <a:ext cx="54864" cy="1051560"/>
          </a:xfrm>
          <a:prstGeom prst="rect">
            <a:avLst/>
          </a:prstGeom>
          <a:solidFill>
            <a:srgbClr val="0D9488"/>
          </a:solidFill>
        </p:spPr>
      </p:sp>
      <p:sp>
        <p:nvSpPr>
          <p:cNvPr id="70" name="Text 68"/>
          <p:cNvSpPr/>
          <p:nvPr/>
        </p:nvSpPr>
        <p:spPr>
          <a:xfrm>
            <a:off x="6263640" y="370332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71" name="Shape 69"/>
          <p:cNvSpPr/>
          <p:nvPr/>
        </p:nvSpPr>
        <p:spPr>
          <a:xfrm>
            <a:off x="6263640" y="3703320"/>
            <a:ext cx="320040" cy="320040"/>
          </a:xfrm>
          <a:prstGeom prst="ellipse">
            <a:avLst/>
          </a:prstGeom>
          <a:solidFill>
            <a:srgbClr val="0D9488"/>
          </a:solidFill>
        </p:spPr>
      </p:sp>
      <p:sp>
        <p:nvSpPr>
          <p:cNvPr id="72" name="Text 70"/>
          <p:cNvSpPr/>
          <p:nvPr/>
        </p:nvSpPr>
        <p:spPr>
          <a:xfrm>
            <a:off x="6263640" y="370332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73" name="Text 71"/>
          <p:cNvSpPr/>
          <p:nvPr/>
        </p:nvSpPr>
        <p:spPr>
          <a:xfrm>
            <a:off x="6675120" y="370332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安全性盲区</a:t>
            </a:r>
            <a:endParaRPr lang="en-US" sz="1400" dirty="0"/>
          </a:p>
        </p:txBody>
      </p:sp>
      <p:sp>
        <p:nvSpPr>
          <p:cNvPr id="74" name="Text 72"/>
          <p:cNvSpPr/>
          <p:nvPr/>
        </p:nvSpPr>
        <p:spPr>
          <a:xfrm>
            <a:off x="6675120" y="406908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忽略安全最佳实践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6675120" y="434340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高频痛点详解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783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4023360" cy="54864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5" name="Text 3"/>
          <p:cNvSpPr/>
          <p:nvPr/>
        </p:nvSpPr>
        <p:spPr>
          <a:xfrm>
            <a:off x="640080" y="11430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上下文丢失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表现：前后矛盾 | 重复询问 | 忽略约定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应对策略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057400"/>
            <a:ext cx="36576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RULES.md 持久化规范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定期重申约束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拆分短会话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4023360" cy="1783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4023360" cy="54864"/>
          </a:xfrm>
          <a:prstGeom prst="rect">
            <a:avLst/>
          </a:prstGeom>
          <a:solidFill>
            <a:srgbClr val="F97316"/>
          </a:solidFill>
        </p:spPr>
      </p:sp>
      <p:sp>
        <p:nvSpPr>
          <p:cNvPr id="11" name="Text 9"/>
          <p:cNvSpPr/>
          <p:nvPr/>
        </p:nvSpPr>
        <p:spPr>
          <a:xfrm>
            <a:off x="4937760" y="11430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幻觉与虚构代码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37760" y="15087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表现：虚构 API | 编造参数 | 混淆版本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应对策略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2057400"/>
            <a:ext cx="36576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验证 API 真实性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查阅官方文档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运行代码验证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023360" cy="1783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971800"/>
            <a:ext cx="4023360" cy="54864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7" name="Text 15"/>
          <p:cNvSpPr/>
          <p:nvPr/>
        </p:nvSpPr>
        <p:spPr>
          <a:xfrm>
            <a:off x="640080" y="310896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功能实现自由发挥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34747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表现：随意选择方案 | 同步/异步混用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794760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应对策略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4023360"/>
            <a:ext cx="36576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明确指定实现方式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提供约束条件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要求解释理由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2971800"/>
            <a:ext cx="4023360" cy="1783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2971800"/>
            <a:ext cx="4023360" cy="54864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23" name="Text 21"/>
          <p:cNvSpPr/>
          <p:nvPr/>
        </p:nvSpPr>
        <p:spPr>
          <a:xfrm>
            <a:off x="4937760" y="310896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过度工程化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937760" y="34747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表现：滥用设计模式 | 过度抽象 | 引入多余依赖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37760" y="3794760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应对策略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37760" y="4023360"/>
            <a:ext cx="36576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明确项目规模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遵循 KISS 原则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质疑抽象必要性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3B82F6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实践篇：最佳实践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如何更有效地使用 AI 编程助手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10 大核心最佳实践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" name="Text 2"/>
          <p:cNvSpPr/>
          <p:nvPr/>
        </p:nvSpPr>
        <p:spPr>
          <a:xfrm>
            <a:off x="548640" y="914400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60120" y="9144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持久化关键规范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017520" y="91440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RULES.md / OpenSpec 保持上下文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132320" y="978408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上下文丢失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132320" y="978408"/>
            <a:ext cx="1371600" cy="237744"/>
          </a:xfrm>
          <a:prstGeom prst="rect">
            <a:avLst/>
          </a:prstGeom>
          <a:solidFill>
            <a:srgbClr val="3B82F6">
              <a:alpha val="10000"/>
            </a:srgbClr>
          </a:solidFill>
        </p:spPr>
      </p:sp>
      <p:sp>
        <p:nvSpPr>
          <p:cNvPr id="9" name="Shape 7"/>
          <p:cNvSpPr/>
          <p:nvPr/>
        </p:nvSpPr>
        <p:spPr>
          <a:xfrm>
            <a:off x="457200" y="1307592"/>
            <a:ext cx="8229600" cy="365760"/>
          </a:xfrm>
          <a:prstGeom prst="rect">
            <a:avLst/>
          </a:prstGeom>
          <a:solidFill>
            <a:srgbClr val="F1F5F9"/>
          </a:solidFill>
        </p:spPr>
      </p:sp>
      <p:sp>
        <p:nvSpPr>
          <p:cNvPr id="10" name="Text 8"/>
          <p:cNvSpPr/>
          <p:nvPr/>
        </p:nvSpPr>
        <p:spPr>
          <a:xfrm>
            <a:off x="548640" y="1307592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1307592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提供充足上下文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17520" y="1307592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引用项目结构、技术栈、公共模块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132320" y="1371600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缺乏全局观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132320" y="1371600"/>
            <a:ext cx="1371600" cy="237744"/>
          </a:xfrm>
          <a:prstGeom prst="rect">
            <a:avLst/>
          </a:prstGeom>
          <a:solidFill>
            <a:srgbClr val="3B82F6">
              <a:alpha val="10000"/>
            </a:srgbClr>
          </a:solidFill>
        </p:spPr>
      </p:sp>
      <p:sp>
        <p:nvSpPr>
          <p:cNvPr id="15" name="Shape 13"/>
          <p:cNvSpPr/>
          <p:nvPr/>
        </p:nvSpPr>
        <p:spPr>
          <a:xfrm>
            <a:off x="457200" y="1700784"/>
            <a:ext cx="8229600" cy="36576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6" name="Text 14"/>
          <p:cNvSpPr/>
          <p:nvPr/>
        </p:nvSpPr>
        <p:spPr>
          <a:xfrm>
            <a:off x="548640" y="1700784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1700784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验证 API 真实性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17520" y="1700784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查阅官方文档，编写单测验证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32320" y="176479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幻觉虚构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132320" y="1764792"/>
            <a:ext cx="1371600" cy="237744"/>
          </a:xfrm>
          <a:prstGeom prst="rect">
            <a:avLst/>
          </a:prstGeom>
          <a:solidFill>
            <a:srgbClr val="3B82F6">
              <a:alpha val="10000"/>
            </a:srgbClr>
          </a:solidFill>
        </p:spPr>
      </p:sp>
      <p:sp>
        <p:nvSpPr>
          <p:cNvPr id="21" name="Shape 19"/>
          <p:cNvSpPr/>
          <p:nvPr/>
        </p:nvSpPr>
        <p:spPr>
          <a:xfrm>
            <a:off x="457200" y="2093976"/>
            <a:ext cx="8229600" cy="365760"/>
          </a:xfrm>
          <a:prstGeom prst="rect">
            <a:avLst/>
          </a:prstGeom>
          <a:solidFill>
            <a:srgbClr val="F1F5F9"/>
          </a:solidFill>
        </p:spPr>
      </p:sp>
      <p:sp>
        <p:nvSpPr>
          <p:cNvPr id="22" name="Text 20"/>
          <p:cNvSpPr/>
          <p:nvPr/>
        </p:nvSpPr>
        <p:spPr>
          <a:xfrm>
            <a:off x="548640" y="2093976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209397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检查版本时效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17520" y="2093976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确认依赖版本和 API 为最新推荐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132320" y="2157984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过时知识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132320" y="2157984"/>
            <a:ext cx="1371600" cy="237744"/>
          </a:xfrm>
          <a:prstGeom prst="rect">
            <a:avLst/>
          </a:prstGeom>
          <a:solidFill>
            <a:srgbClr val="3B82F6">
              <a:alpha val="10000"/>
            </a:srgbClr>
          </a:solidFill>
        </p:spPr>
      </p:sp>
      <p:sp>
        <p:nvSpPr>
          <p:cNvPr id="27" name="Shape 25"/>
          <p:cNvSpPr/>
          <p:nvPr/>
        </p:nvSpPr>
        <p:spPr>
          <a:xfrm>
            <a:off x="457200" y="2487168"/>
            <a:ext cx="8229600" cy="36576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8" name="Text 26"/>
          <p:cNvSpPr/>
          <p:nvPr/>
        </p:nvSpPr>
        <p:spPr>
          <a:xfrm>
            <a:off x="548640" y="2487168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60120" y="248716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明确编码规范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017520" y="2487168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指定命名风格、格式规范、禁止事项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132320" y="255117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缺乏一致性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132320" y="2551176"/>
            <a:ext cx="1371600" cy="237744"/>
          </a:xfrm>
          <a:prstGeom prst="rect">
            <a:avLst/>
          </a:prstGeom>
          <a:solidFill>
            <a:srgbClr val="3B82F6">
              <a:alpha val="10000"/>
            </a:srgbClr>
          </a:solidFill>
        </p:spPr>
      </p:sp>
      <p:sp>
        <p:nvSpPr>
          <p:cNvPr id="33" name="Shape 31"/>
          <p:cNvSpPr/>
          <p:nvPr/>
        </p:nvSpPr>
        <p:spPr>
          <a:xfrm>
            <a:off x="457200" y="2880360"/>
            <a:ext cx="8229600" cy="365760"/>
          </a:xfrm>
          <a:prstGeom prst="rect">
            <a:avLst/>
          </a:prstGeom>
          <a:solidFill>
            <a:srgbClr val="F1F5F9"/>
          </a:solidFill>
        </p:spPr>
      </p:sp>
      <p:sp>
        <p:nvSpPr>
          <p:cNvPr id="34" name="Text 32"/>
          <p:cNvSpPr/>
          <p:nvPr/>
        </p:nvSpPr>
        <p:spPr>
          <a:xfrm>
            <a:off x="548640" y="2880360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60120" y="288036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最小化操作范围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017520" y="288036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聚焦单一模块，避免上下文超限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132320" y="2944368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上下文丢失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132320" y="2944368"/>
            <a:ext cx="1371600" cy="237744"/>
          </a:xfrm>
          <a:prstGeom prst="rect">
            <a:avLst/>
          </a:prstGeom>
          <a:solidFill>
            <a:srgbClr val="3B82F6">
              <a:alpha val="10000"/>
            </a:srgbClr>
          </a:solidFill>
        </p:spPr>
      </p:sp>
      <p:sp>
        <p:nvSpPr>
          <p:cNvPr id="39" name="Shape 37"/>
          <p:cNvSpPr/>
          <p:nvPr/>
        </p:nvSpPr>
        <p:spPr>
          <a:xfrm>
            <a:off x="457200" y="3273552"/>
            <a:ext cx="8229600" cy="36576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0" name="Text 38"/>
          <p:cNvSpPr/>
          <p:nvPr/>
        </p:nvSpPr>
        <p:spPr>
          <a:xfrm>
            <a:off x="548640" y="3273552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60120" y="3273552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分步骤进行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017520" y="3273552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拆分小步骤，每步检查确认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132320" y="3337560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自由发挥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132320" y="3337560"/>
            <a:ext cx="1371600" cy="237744"/>
          </a:xfrm>
          <a:prstGeom prst="rect">
            <a:avLst/>
          </a:prstGeom>
          <a:solidFill>
            <a:srgbClr val="3B82F6">
              <a:alpha val="10000"/>
            </a:srgbClr>
          </a:solidFill>
        </p:spPr>
      </p:sp>
      <p:sp>
        <p:nvSpPr>
          <p:cNvPr id="45" name="Shape 43"/>
          <p:cNvSpPr/>
          <p:nvPr/>
        </p:nvSpPr>
        <p:spPr>
          <a:xfrm>
            <a:off x="457200" y="3666744"/>
            <a:ext cx="8229600" cy="365760"/>
          </a:xfrm>
          <a:prstGeom prst="rect">
            <a:avLst/>
          </a:prstGeom>
          <a:solidFill>
            <a:srgbClr val="F1F5F9"/>
          </a:solidFill>
        </p:spPr>
      </p:sp>
      <p:sp>
        <p:nvSpPr>
          <p:cNvPr id="46" name="Text 44"/>
          <p:cNvSpPr/>
          <p:nvPr/>
        </p:nvSpPr>
        <p:spPr>
          <a:xfrm>
            <a:off x="548640" y="3666744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960120" y="3666744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遵循 KISS 原则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3017520" y="3666744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质疑过度抽象，要求解释必要性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7132320" y="373075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过度工程化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132320" y="3730752"/>
            <a:ext cx="1371600" cy="237744"/>
          </a:xfrm>
          <a:prstGeom prst="rect">
            <a:avLst/>
          </a:prstGeom>
          <a:solidFill>
            <a:srgbClr val="3B82F6">
              <a:alpha val="10000"/>
            </a:srgbClr>
          </a:solidFill>
        </p:spPr>
      </p:sp>
      <p:sp>
        <p:nvSpPr>
          <p:cNvPr id="51" name="Shape 49"/>
          <p:cNvSpPr/>
          <p:nvPr/>
        </p:nvSpPr>
        <p:spPr>
          <a:xfrm>
            <a:off x="457200" y="4059936"/>
            <a:ext cx="8229600" cy="36576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52" name="Text 50"/>
          <p:cNvSpPr/>
          <p:nvPr/>
        </p:nvSpPr>
        <p:spPr>
          <a:xfrm>
            <a:off x="548640" y="4059936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960120" y="40599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监控 Agent 执行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3017520" y="4059936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任务清单 + 分阶段验收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132320" y="4123944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不完整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32320" y="4123944"/>
            <a:ext cx="1371600" cy="237744"/>
          </a:xfrm>
          <a:prstGeom prst="rect">
            <a:avLst/>
          </a:prstGeom>
          <a:solidFill>
            <a:srgbClr val="3B82F6">
              <a:alpha val="10000"/>
            </a:srgbClr>
          </a:solidFill>
        </p:spPr>
      </p:sp>
      <p:sp>
        <p:nvSpPr>
          <p:cNvPr id="57" name="Shape 55"/>
          <p:cNvSpPr/>
          <p:nvPr/>
        </p:nvSpPr>
        <p:spPr>
          <a:xfrm>
            <a:off x="457200" y="4453128"/>
            <a:ext cx="8229600" cy="365760"/>
          </a:xfrm>
          <a:prstGeom prst="rect">
            <a:avLst/>
          </a:prstGeom>
          <a:solidFill>
            <a:srgbClr val="F1F5F9"/>
          </a:solidFill>
        </p:spPr>
      </p:sp>
      <p:sp>
        <p:nvSpPr>
          <p:cNvPr id="58" name="Text 56"/>
          <p:cNvSpPr/>
          <p:nvPr/>
        </p:nvSpPr>
        <p:spPr>
          <a:xfrm>
            <a:off x="548640" y="4453128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960120" y="445312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安全审查清单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3017520" y="4453128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检查注入、硬编码、权限问题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7132320" y="451713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安全盲区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132320" y="4517136"/>
            <a:ext cx="1371600" cy="237744"/>
          </a:xfrm>
          <a:prstGeom prst="rect">
            <a:avLst/>
          </a:prstGeom>
          <a:solidFill>
            <a:srgbClr val="3B82F6">
              <a:alpha val="10000"/>
            </a:srgbClr>
          </a:solid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RULES.md：项目级 AI 协作规范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3657600"/>
          </a:xfrm>
          <a:prstGeom prst="rect">
            <a:avLst/>
          </a:prstGeom>
          <a:solidFill>
            <a:srgbClr val="0F172A"/>
          </a:solidFill>
        </p:spPr>
      </p:sp>
      <p:sp>
        <p:nvSpPr>
          <p:cNvPr id="4" name="Text 2"/>
          <p:cNvSpPr/>
          <p:nvPr/>
        </p:nvSpPr>
        <p:spPr>
          <a:xfrm>
            <a:off x="640080" y="109728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RULES.md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749040" cy="3017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项目概览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项目名称：xxxreader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语言标准：C++17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已有公共模块（必须优先使用）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日志：utils/logger.h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字符串：utils/string_utils.h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编码规范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命名：Google C++ Style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缩进：4 空格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禁止事项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✗ 不要使用 cout/printf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✗ 不要重新实现已有工具函数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✗ 不要硬编码配置值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937760" y="100584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为什么需要 RULES.md?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937760" y="1508760"/>
            <a:ext cx="3749040" cy="5943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74920" y="1627632"/>
            <a:ext cx="347472" cy="347472"/>
          </a:xfrm>
          <a:prstGeom prst="ellipse">
            <a:avLst/>
          </a:prstGeom>
          <a:solidFill>
            <a:srgbClr val="3B82F6"/>
          </a:solidFill>
        </p:spPr>
      </p:sp>
      <p:sp>
        <p:nvSpPr>
          <p:cNvPr id="9" name="Text 7"/>
          <p:cNvSpPr/>
          <p:nvPr/>
        </p:nvSpPr>
        <p:spPr>
          <a:xfrm>
            <a:off x="5074920" y="1627632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577840" y="155448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解决上下文丢失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77840" y="182880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每次对话都能引用项目规范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937760" y="2240280"/>
            <a:ext cx="3749040" cy="5943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74920" y="2359152"/>
            <a:ext cx="347472" cy="347472"/>
          </a:xfrm>
          <a:prstGeom prst="ellipse">
            <a:avLst/>
          </a:prstGeom>
          <a:solidFill>
            <a:srgbClr val="3B82F6"/>
          </a:solidFill>
        </p:spPr>
      </p:sp>
      <p:sp>
        <p:nvSpPr>
          <p:cNvPr id="14" name="Text 12"/>
          <p:cNvSpPr/>
          <p:nvPr/>
        </p:nvSpPr>
        <p:spPr>
          <a:xfrm>
            <a:off x="5074920" y="2359152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577840" y="22860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避免重复造轮子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577840" y="256032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明确列出已有公共模块位置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937760" y="2971800"/>
            <a:ext cx="3749040" cy="5943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74920" y="3090672"/>
            <a:ext cx="347472" cy="347472"/>
          </a:xfrm>
          <a:prstGeom prst="ellipse">
            <a:avLst/>
          </a:prstGeom>
          <a:solidFill>
            <a:srgbClr val="3B82F6"/>
          </a:solidFill>
        </p:spPr>
      </p:sp>
      <p:sp>
        <p:nvSpPr>
          <p:cNvPr id="19" name="Text 17"/>
          <p:cNvSpPr/>
          <p:nvPr/>
        </p:nvSpPr>
        <p:spPr>
          <a:xfrm>
            <a:off x="5074920" y="3090672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577840" y="301752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保持代码一致性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577840" y="329184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统一命名、格式、错误处理方式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937760" y="3703320"/>
            <a:ext cx="3749040" cy="5943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74920" y="3822192"/>
            <a:ext cx="347472" cy="347472"/>
          </a:xfrm>
          <a:prstGeom prst="ellipse">
            <a:avLst/>
          </a:prstGeom>
          <a:solidFill>
            <a:srgbClr val="3B82F6"/>
          </a:solidFill>
        </p:spPr>
      </p:sp>
      <p:sp>
        <p:nvSpPr>
          <p:cNvPr id="24" name="Text 22"/>
          <p:cNvSpPr/>
          <p:nvPr/>
        </p:nvSpPr>
        <p:spPr>
          <a:xfrm>
            <a:off x="5074920" y="3822192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77840" y="374904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限制自由发挥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577840" y="402336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明确禁止事项，约束 AI 行为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快速参考：开始任务前 → 引用 RULES.md  |  生成函数前 → 检查 utils/ 是否已有  |  API 调用后 → 验证存在性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分步骤进行 + 最小化操作范围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20116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4023360" cy="457200"/>
          </a:xfrm>
          <a:prstGeom prst="rect">
            <a:avLst/>
          </a:prstGeom>
          <a:solidFill>
            <a:srgbClr val="0D9488"/>
          </a:solidFill>
        </p:spPr>
      </p:sp>
      <p:sp>
        <p:nvSpPr>
          <p:cNvPr id="5" name="Text 3"/>
          <p:cNvSpPr/>
          <p:nvPr/>
        </p:nvSpPr>
        <p:spPr>
          <a:xfrm>
            <a:off x="457200" y="100584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任务拆分原则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365760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"帮我实现一个完整的 CSS 解析器"
</a:t>
            </a: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Step 1: 设计接口定义（.h 文件）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Step 2: 实现选择器解析逻辑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Step 3: 实现属性值解析逻辑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Step 4: 编写单元测试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4023360" cy="20116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solidFill>
            <a:srgbClr val="F97316"/>
          </a:solidFill>
        </p:spPr>
      </p:sp>
      <p:sp>
        <p:nvSpPr>
          <p:cNvPr id="9" name="Text 7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最小化操作范围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83480" y="1554480"/>
            <a:ext cx="365760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"帮我重构整个 src/ 目录"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"重构 src/utils/string.ts 的 formatDate"
</a:t>
            </a:r>
            <a:endParaRPr lang="en-US" sz="11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一次提供 10 个文件让 AI 修改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每次聚焦 1-2 个文件，逐步推进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2918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审核分工：机器 vs 人工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4023360" cy="10972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749040"/>
            <a:ext cx="54864" cy="10972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4" name="Text 12"/>
          <p:cNvSpPr/>
          <p:nvPr/>
        </p:nvSpPr>
        <p:spPr>
          <a:xfrm>
            <a:off x="731520" y="379476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机器自动化审核
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代码风格 | 重复代码 | 安全漏洞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依赖检查 | API 验证 | 复杂度 | 类型检查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54880" y="3749040"/>
            <a:ext cx="4023360" cy="10972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3749040"/>
            <a:ext cx="54864" cy="1097280"/>
          </a:xfrm>
          <a:prstGeom prst="rect">
            <a:avLst/>
          </a:prstGeom>
          <a:solidFill>
            <a:srgbClr val="F97316"/>
          </a:solidFill>
        </p:spPr>
      </p:sp>
      <p:sp>
        <p:nvSpPr>
          <p:cNvPr id="17" name="Text 15"/>
          <p:cNvSpPr/>
          <p:nvPr/>
        </p:nvSpPr>
        <p:spPr>
          <a:xfrm>
            <a:off x="5029200" y="379476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仍需人工审核
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业务逻辑正确性 | 架构合理性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抽象过度判断 | 命名语义 | 性能瓶颈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3B82F6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04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工程化篇：设计先行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从辅助编码到工程化协作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AI 全流程闭环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没有闭环的 AI 编程只是"辅助打字"；有闭环的 AI 编程才是"自动化软件工程"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737360" cy="10058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5" name="Text 3"/>
          <p:cNvSpPr/>
          <p:nvPr/>
        </p:nvSpPr>
        <p:spPr>
          <a:xfrm>
            <a:off x="640080" y="1371600"/>
            <a:ext cx="173736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377440" y="1371600"/>
            <a:ext cx="4572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64748B"/>
                </a:solidFill>
              </a:rPr>
              <a:t>→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834640" y="1371600"/>
            <a:ext cx="1737360" cy="1005840"/>
          </a:xfrm>
          <a:prstGeom prst="rect">
            <a:avLst/>
          </a:prstGeom>
          <a:solidFill>
            <a:srgbClr val="0D9488"/>
          </a:solidFill>
        </p:spPr>
      </p:sp>
      <p:sp>
        <p:nvSpPr>
          <p:cNvPr id="8" name="Text 6"/>
          <p:cNvSpPr/>
          <p:nvPr/>
        </p:nvSpPr>
        <p:spPr>
          <a:xfrm>
            <a:off x="2834640" y="1371600"/>
            <a:ext cx="173736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开发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0" y="1371600"/>
            <a:ext cx="4572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64748B"/>
                </a:solidFill>
              </a:rPr>
              <a:t>→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5029200" y="1371600"/>
            <a:ext cx="1737360" cy="1005840"/>
          </a:xfrm>
          <a:prstGeom prst="rect">
            <a:avLst/>
          </a:prstGeom>
          <a:solidFill>
            <a:srgbClr val="F97316"/>
          </a:solidFill>
        </p:spPr>
      </p:sp>
      <p:sp>
        <p:nvSpPr>
          <p:cNvPr id="11" name="Text 9"/>
          <p:cNvSpPr/>
          <p:nvPr/>
        </p:nvSpPr>
        <p:spPr>
          <a:xfrm>
            <a:off x="5029200" y="1371600"/>
            <a:ext cx="173736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766560" y="1371600"/>
            <a:ext cx="4572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64748B"/>
                </a:solidFill>
              </a:rPr>
              <a:t>→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7223760" y="1371600"/>
            <a:ext cx="1737360" cy="100584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14" name="Text 12"/>
          <p:cNvSpPr/>
          <p:nvPr/>
        </p:nvSpPr>
        <p:spPr>
          <a:xfrm>
            <a:off x="7223760" y="1371600"/>
            <a:ext cx="173736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验证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560320" y="2560320"/>
            <a:ext cx="4206240" cy="365760"/>
          </a:xfrm>
          <a:prstGeom prst="rect">
            <a:avLst/>
          </a:prstGeom>
          <a:solidFill>
            <a:srgbClr val="F1F5F9"/>
          </a:solidFill>
        </p:spPr>
      </p:sp>
      <p:sp>
        <p:nvSpPr>
          <p:cNvPr id="16" name="Text 14"/>
          <p:cNvSpPr/>
          <p:nvPr/>
        </p:nvSpPr>
        <p:spPr>
          <a:xfrm>
            <a:off x="2560320" y="256032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↩  测试结果反馈设计，形成迭代闭环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4023360" cy="6858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32461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设计质量提升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5478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设计必须足够清晰才能生成测试，倒逼设计文档质量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3200400"/>
            <a:ext cx="4023360" cy="6858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937760" y="32461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早期发现问题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37760" y="35478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设计阶段就能通过测试用例发现逻辑漏洞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023360"/>
            <a:ext cx="4023360" cy="6858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" y="4069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自主迭代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437083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测试失败时 AI 可自动修复，减少人工介入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4023360"/>
            <a:ext cx="4023360" cy="6858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937760" y="4069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知识沉淀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37760" y="437083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设计文档 + 测试用例 = 完整的功能规格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AI 工程设计流程：四阶段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7772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51560"/>
            <a:ext cx="54864" cy="7772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5" name="Shape 3"/>
          <p:cNvSpPr/>
          <p:nvPr/>
        </p:nvSpPr>
        <p:spPr>
          <a:xfrm>
            <a:off x="640080" y="1188720"/>
            <a:ext cx="1005840" cy="50292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6" name="Text 4"/>
          <p:cNvSpPr/>
          <p:nvPr/>
        </p:nvSpPr>
        <p:spPr>
          <a:xfrm>
            <a:off x="640080" y="1188720"/>
            <a:ext cx="1005840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39903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需求分析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28800" y="11430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输入：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用户需求描述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0" y="146304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输出：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proposal.md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06240" y="114300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工具：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06240" y="146304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审核：</a:t>
            </a: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产品/业务确认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0" y="12344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</a:rPr>
              <a:t>↓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2011680"/>
            <a:ext cx="8229600" cy="7772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011680"/>
            <a:ext cx="54864" cy="777240"/>
          </a:xfrm>
          <a:prstGeom prst="rect">
            <a:avLst/>
          </a:prstGeom>
          <a:solidFill>
            <a:srgbClr val="0D9488"/>
          </a:solidFill>
        </p:spPr>
      </p:sp>
      <p:sp>
        <p:nvSpPr>
          <p:cNvPr id="15" name="Shape 13"/>
          <p:cNvSpPr/>
          <p:nvPr/>
        </p:nvSpPr>
        <p:spPr>
          <a:xfrm>
            <a:off x="640080" y="2148840"/>
            <a:ext cx="1005840" cy="502920"/>
          </a:xfrm>
          <a:prstGeom prst="rect">
            <a:avLst/>
          </a:prstGeom>
          <a:solidFill>
            <a:srgbClr val="0D9488"/>
          </a:solidFill>
        </p:spPr>
      </p:sp>
      <p:sp>
        <p:nvSpPr>
          <p:cNvPr id="16" name="Text 14"/>
          <p:cNvSpPr/>
          <p:nvPr/>
        </p:nvSpPr>
        <p:spPr>
          <a:xfrm>
            <a:off x="640080" y="2148840"/>
            <a:ext cx="1005840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23591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设计文档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828800" y="21031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输入：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28800" y="242316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输出：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design.md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206240" y="210312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工具：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+ Skill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206240" y="242316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审核：</a:t>
            </a: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架构师审核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0" y="21945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</a:rPr>
              <a:t>↓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2971800"/>
            <a:ext cx="8229600" cy="7772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2971800"/>
            <a:ext cx="54864" cy="777240"/>
          </a:xfrm>
          <a:prstGeom prst="rect">
            <a:avLst/>
          </a:prstGeom>
          <a:solidFill>
            <a:srgbClr val="F97316"/>
          </a:solidFill>
        </p:spPr>
      </p:sp>
      <p:sp>
        <p:nvSpPr>
          <p:cNvPr id="25" name="Shape 23"/>
          <p:cNvSpPr/>
          <p:nvPr/>
        </p:nvSpPr>
        <p:spPr>
          <a:xfrm>
            <a:off x="640080" y="3108960"/>
            <a:ext cx="1005840" cy="502920"/>
          </a:xfrm>
          <a:prstGeom prst="rect">
            <a:avLst/>
          </a:prstGeom>
          <a:solidFill>
            <a:srgbClr val="F97316"/>
          </a:solidFill>
        </p:spPr>
      </p:sp>
      <p:sp>
        <p:nvSpPr>
          <p:cNvPr id="26" name="Text 24"/>
          <p:cNvSpPr/>
          <p:nvPr/>
        </p:nvSpPr>
        <p:spPr>
          <a:xfrm>
            <a:off x="640080" y="3108960"/>
            <a:ext cx="1005840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0080" y="33192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代码实现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828800" y="306324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输入：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design.md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828800" y="33832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输出：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源代码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206240" y="306324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工具：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+ Agent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206240" y="338328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审核：</a:t>
            </a: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代码审查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858000" y="31546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</a:rPr>
              <a:t>↓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3931920"/>
            <a:ext cx="54864" cy="77724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35" name="Shape 33"/>
          <p:cNvSpPr/>
          <p:nvPr/>
        </p:nvSpPr>
        <p:spPr>
          <a:xfrm>
            <a:off x="640080" y="4069080"/>
            <a:ext cx="1005840" cy="50292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36" name="Text 34"/>
          <p:cNvSpPr/>
          <p:nvPr/>
        </p:nvSpPr>
        <p:spPr>
          <a:xfrm>
            <a:off x="640080" y="4069080"/>
            <a:ext cx="1005840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0080" y="427939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测试验证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828800" y="402336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输入：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design.md + 代码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828800" y="43434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输出：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测试报告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206240" y="402336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工具：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+ Agent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206240" y="434340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审核：</a:t>
            </a: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自动化验证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57200" y="4745355"/>
            <a:ext cx="8229600" cy="361315"/>
          </a:xfrm>
          <a:prstGeom prst="rect">
            <a:avLst/>
          </a:prstGeom>
          <a:solidFill>
            <a:srgbClr val="0F172A"/>
          </a:solidFill>
        </p:spPr>
      </p:sp>
      <p:sp>
        <p:nvSpPr>
          <p:cNvPr id="43" name="Text 41"/>
          <p:cNvSpPr/>
          <p:nvPr/>
        </p:nvSpPr>
        <p:spPr>
          <a:xfrm>
            <a:off x="640080" y="4712335"/>
            <a:ext cx="7772400" cy="410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工具链：OpenSpec（做什么）→ Cursor Skill（怎么做）→ Agent/OpenClaw（自动跑）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渐进式采用建议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8965" cy="10515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1051560"/>
          </a:xfrm>
          <a:prstGeom prst="rect">
            <a:avLst/>
          </a:prstGeom>
          <a:solidFill>
            <a:srgbClr val="0D9488"/>
          </a:solidFill>
        </p:spPr>
      </p:sp>
      <p:sp>
        <p:nvSpPr>
          <p:cNvPr id="5" name="Shape 3"/>
          <p:cNvSpPr/>
          <p:nvPr/>
        </p:nvSpPr>
        <p:spPr>
          <a:xfrm>
            <a:off x="640080" y="1280160"/>
            <a:ext cx="1097280" cy="640080"/>
          </a:xfrm>
          <a:prstGeom prst="rect">
            <a:avLst/>
          </a:prstGeom>
          <a:solidFill>
            <a:srgbClr val="0D9488"/>
          </a:solidFill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920240" y="1188720"/>
            <a:ext cx="365760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只用 RULES.md 约束 AI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人工执行代码生成和测试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0" y="14173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适合团队首次引入 AI 编程协作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8228965" cy="10515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331720"/>
            <a:ext cx="54864" cy="1051560"/>
          </a:xfrm>
          <a:prstGeom prst="rect">
            <a:avLst/>
          </a:prstGeom>
          <a:solidFill>
            <a:srgbClr val="F97316"/>
          </a:solidFill>
        </p:spPr>
      </p:sp>
      <p:sp>
        <p:nvSpPr>
          <p:cNvPr id="12" name="Shape 10"/>
          <p:cNvSpPr/>
          <p:nvPr/>
        </p:nvSpPr>
        <p:spPr>
          <a:xfrm>
            <a:off x="640080" y="2514600"/>
            <a:ext cx="1097280" cy="640080"/>
          </a:xfrm>
          <a:prstGeom prst="rect">
            <a:avLst/>
          </a:prstGeom>
          <a:solidFill>
            <a:srgbClr val="F97316"/>
          </a:solidFill>
        </p:spPr>
      </p:sp>
      <p:sp>
        <p:nvSpPr>
          <p:cNvPr id="13" name="Text 11"/>
          <p:cNvSpPr/>
          <p:nvPr/>
        </p:nvSpPr>
        <p:spPr>
          <a:xfrm>
            <a:off x="640080" y="2514600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2788920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进阶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920240" y="2423160"/>
            <a:ext cx="365760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RULES.md + </a:t>
            </a:r>
            <a:r>
              <a:rPr lang="en-US" sz="1200" b="1" dirty="0">
                <a:gradFill>
                  <a:gsLst>
                    <a:gs pos="50000">
                      <a:schemeClr val="accent5"/>
                    </a:gs>
                    <a:gs pos="0">
                      <a:schemeClr val="accent5">
                        <a:lumMod val="25000"/>
                        <a:lumOff val="75000"/>
                      </a:schemeClr>
                    </a:gs>
                    <a:gs pos="100000">
                      <a:schemeClr val="accent5">
                        <a:lumMod val="85000"/>
                      </a:schemeClr>
                    </a:gs>
                  </a:gsLst>
                  <a:lin ang="5400000" scaled="1"/>
                </a:gra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r>
              <a:rPr lang="en-US" sz="1200" b="1" dirty="0">
                <a:gradFill>
                  <a:gsLst>
                    <a:gs pos="50000">
                      <a:srgbClr val="1F5FBF"/>
                    </a:gs>
                    <a:gs pos="0">
                      <a:srgbClr val="1486CB"/>
                    </a:gs>
                    <a:gs pos="100000">
                      <a:srgbClr val="2A34B2"/>
                    </a:gs>
                  </a:gsLst>
                  <a:lin ang="5400000" scaled="1"/>
                </a:gra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设计文档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辅助生成代码和测试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人工触发和审核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0" y="26517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适合已有 AI 使用经验的团队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8228965" cy="10515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566160"/>
            <a:ext cx="54864" cy="105156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9" name="Shape 17"/>
          <p:cNvSpPr/>
          <p:nvPr/>
        </p:nvSpPr>
        <p:spPr>
          <a:xfrm>
            <a:off x="640080" y="3749040"/>
            <a:ext cx="1097280" cy="640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20" name="Text 18"/>
          <p:cNvSpPr/>
          <p:nvPr/>
        </p:nvSpPr>
        <p:spPr>
          <a:xfrm>
            <a:off x="640080" y="3749040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4023360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成熟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920240" y="3657600"/>
            <a:ext cx="365760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+ Skill + Agent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全流程自动化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人工只在关键节点审核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0" y="38862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适合工程化成熟度高的团队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671060"/>
            <a:ext cx="8229600" cy="411480"/>
          </a:xfrm>
          <a:prstGeom prst="rect">
            <a:avLst/>
          </a:prstGeom>
          <a:solidFill>
            <a:srgbClr val="DBEAFE"/>
          </a:solidFill>
        </p:spPr>
      </p:sp>
      <p:sp>
        <p:nvSpPr>
          <p:cNvPr id="25" name="Text 23"/>
          <p:cNvSpPr/>
          <p:nvPr/>
        </p:nvSpPr>
        <p:spPr>
          <a:xfrm>
            <a:off x="640080" y="4654550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建议从 Level 1 开始，团队适应后逐步升级。不要一步到位，过程比结果重要。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行动建议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面向个人开发者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640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554480"/>
            <a:ext cx="347472" cy="347472"/>
          </a:xfrm>
          <a:prstGeom prst="ellipse">
            <a:avLst/>
          </a:prstGeom>
          <a:solidFill>
            <a:srgbClr val="3B82F6"/>
          </a:solidFill>
        </p:spPr>
      </p:sp>
      <p:sp>
        <p:nvSpPr>
          <p:cNvPr id="6" name="Text 4"/>
          <p:cNvSpPr/>
          <p:nvPr/>
        </p:nvSpPr>
        <p:spPr>
          <a:xfrm>
            <a:off x="594360" y="155448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463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掌握工程化提示方法论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764792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学习 Cursor Rules、RULES.md 等工具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4023360" cy="640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94360" y="2331720"/>
            <a:ext cx="347472" cy="347472"/>
          </a:xfrm>
          <a:prstGeom prst="ellipse">
            <a:avLst/>
          </a:prstGeom>
          <a:solidFill>
            <a:srgbClr val="3B82F6"/>
          </a:solidFill>
        </p:spPr>
      </p:sp>
      <p:sp>
        <p:nvSpPr>
          <p:cNvPr id="11" name="Text 9"/>
          <p:cNvSpPr/>
          <p:nvPr/>
        </p:nvSpPr>
        <p:spPr>
          <a:xfrm>
            <a:off x="594360" y="233172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2402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建立分层信任模型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2542032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样板代码→高信任 | 业务逻辑→低信任 | 安全→零信任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4023360" cy="640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4360" y="3108960"/>
            <a:ext cx="347472" cy="347472"/>
          </a:xfrm>
          <a:prstGeom prst="ellipse">
            <a:avLst/>
          </a:prstGeom>
          <a:solidFill>
            <a:srgbClr val="3B82F6"/>
          </a:solidFill>
        </p:spPr>
      </p:sp>
      <p:sp>
        <p:nvSpPr>
          <p:cNvPr id="16" name="Text 14"/>
          <p:cNvSpPr/>
          <p:nvPr/>
        </p:nvSpPr>
        <p:spPr>
          <a:xfrm>
            <a:off x="594360" y="310896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97280" y="301752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u="sng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拥抱设计文档先行</a:t>
            </a:r>
            <a:endParaRPr lang="en-US" b="1" u="sng" dirty="0">
              <a:solidFill>
                <a:srgbClr val="FF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97280" y="3319272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先写设计文档，再让 AI 按规格实现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9601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面向团队/组织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754880" y="1417320"/>
            <a:ext cx="4023360" cy="640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92040" y="1554480"/>
            <a:ext cx="347472" cy="347472"/>
          </a:xfrm>
          <a:prstGeom prst="ellipse">
            <a:avLst/>
          </a:prstGeom>
          <a:solidFill>
            <a:srgbClr val="F97316"/>
          </a:solidFill>
        </p:spPr>
      </p:sp>
      <p:sp>
        <p:nvSpPr>
          <p:cNvPr id="22" name="Text 20"/>
          <p:cNvSpPr/>
          <p:nvPr/>
        </p:nvSpPr>
        <p:spPr>
          <a:xfrm>
            <a:off x="4892040" y="155448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94960" y="1463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 AI 代码审查检查清单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94960" y="1764792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幻觉 API、架构规范、安全漏洞、过度工程化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194560"/>
            <a:ext cx="4023360" cy="640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92040" y="2331720"/>
            <a:ext cx="347472" cy="347472"/>
          </a:xfrm>
          <a:prstGeom prst="ellipse">
            <a:avLst/>
          </a:prstGeom>
          <a:solidFill>
            <a:srgbClr val="F97316"/>
          </a:solidFill>
        </p:spPr>
      </p:sp>
      <p:sp>
        <p:nvSpPr>
          <p:cNvPr id="27" name="Text 25"/>
          <p:cNvSpPr/>
          <p:nvPr/>
        </p:nvSpPr>
        <p:spPr>
          <a:xfrm>
            <a:off x="4892040" y="233172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94960" y="22402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组织 AI 最佳实践内部分享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394960" y="2542032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打破信息茧房，分享技巧和避坑经验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54880" y="2971800"/>
            <a:ext cx="4023360" cy="640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92040" y="3108960"/>
            <a:ext cx="347472" cy="347472"/>
          </a:xfrm>
          <a:prstGeom prst="ellipse">
            <a:avLst/>
          </a:prstGeom>
          <a:solidFill>
            <a:srgbClr val="F97316"/>
          </a:solidFill>
        </p:spPr>
      </p:sp>
      <p:sp>
        <p:nvSpPr>
          <p:cNvPr id="32" name="Text 30"/>
          <p:cNvSpPr/>
          <p:nvPr/>
        </p:nvSpPr>
        <p:spPr>
          <a:xfrm>
            <a:off x="4892040" y="310896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394960" y="301752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制定差异化 AI 使用指南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394960" y="3319272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初级→验证审查 | 中级→工具优化 | 高级→选择性使用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solidFill>
            <a:srgbClr val="DBEAFE"/>
          </a:solidFill>
        </p:spPr>
      </p:sp>
      <p:sp>
        <p:nvSpPr>
          <p:cNvPr id="36" name="Shape 34"/>
          <p:cNvSpPr/>
          <p:nvPr/>
        </p:nvSpPr>
        <p:spPr>
          <a:xfrm>
            <a:off x="457200" y="3931920"/>
            <a:ext cx="54864" cy="9144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37" name="Text 35"/>
          <p:cNvSpPr/>
          <p:nvPr/>
        </p:nvSpPr>
        <p:spPr>
          <a:xfrm>
            <a:off x="731520" y="3977640"/>
            <a:ext cx="77724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核心洞察
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真正的生产力提升不会来自更强大的模型，而是来自更成熟的人机协作方法论。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那些能够率先建立起系统化 AI 协作实践的团队和个人，将获得最大的竞争优势。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总结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50292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5" name="Shape 3"/>
          <p:cNvSpPr/>
          <p:nvPr/>
        </p:nvSpPr>
        <p:spPr>
          <a:xfrm>
            <a:off x="731520" y="1188720"/>
            <a:ext cx="54864" cy="50292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6" name="Text 4"/>
          <p:cNvSpPr/>
          <p:nvPr/>
        </p:nvSpPr>
        <p:spPr>
          <a:xfrm>
            <a:off x="1005840" y="1188720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角色定位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0" y="118872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高效的代码生成工具，而非架构师或创新者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7680960" cy="50292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9" name="Shape 7"/>
          <p:cNvSpPr/>
          <p:nvPr/>
        </p:nvSpPr>
        <p:spPr>
          <a:xfrm>
            <a:off x="731520" y="1828800"/>
            <a:ext cx="54864" cy="502920"/>
          </a:xfrm>
          <a:prstGeom prst="rect">
            <a:avLst/>
          </a:prstGeom>
          <a:solidFill>
            <a:srgbClr val="0D9488"/>
          </a:solidFill>
        </p:spPr>
      </p:sp>
      <p:sp>
        <p:nvSpPr>
          <p:cNvPr id="10" name="Text 8"/>
          <p:cNvSpPr/>
          <p:nvPr/>
        </p:nvSpPr>
        <p:spPr>
          <a:xfrm>
            <a:off x="1005840" y="1828800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核心优势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0" y="182880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快速实现已知模式，提升编码效率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468880"/>
            <a:ext cx="7680960" cy="50292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13" name="Shape 11"/>
          <p:cNvSpPr/>
          <p:nvPr/>
        </p:nvSpPr>
        <p:spPr>
          <a:xfrm>
            <a:off x="731520" y="2468880"/>
            <a:ext cx="54864" cy="50292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4" name="Text 12"/>
          <p:cNvSpPr/>
          <p:nvPr/>
        </p:nvSpPr>
        <p:spPr>
          <a:xfrm>
            <a:off x="1005840" y="2468880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主要局限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43200" y="246888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缺乏全局观、一致性意识和创新能力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3108960"/>
            <a:ext cx="7680960" cy="50292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17" name="Shape 15"/>
          <p:cNvSpPr/>
          <p:nvPr/>
        </p:nvSpPr>
        <p:spPr>
          <a:xfrm>
            <a:off x="731520" y="3108960"/>
            <a:ext cx="54864" cy="502920"/>
          </a:xfrm>
          <a:prstGeom prst="rect">
            <a:avLst/>
          </a:prstGeom>
          <a:solidFill>
            <a:srgbClr val="F97316"/>
          </a:solidFill>
        </p:spPr>
      </p:sp>
      <p:sp>
        <p:nvSpPr>
          <p:cNvPr id="18" name="Text 16"/>
          <p:cNvSpPr/>
          <p:nvPr/>
        </p:nvSpPr>
        <p:spPr>
          <a:xfrm>
            <a:off x="1005840" y="3108960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最佳用法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0" y="310896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明确规范 + 充足上下文 + 人工审查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3749040"/>
            <a:ext cx="7680960" cy="50292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21" name="Shape 19"/>
          <p:cNvSpPr/>
          <p:nvPr/>
        </p:nvSpPr>
        <p:spPr>
          <a:xfrm>
            <a:off x="731520" y="3749040"/>
            <a:ext cx="54864" cy="50292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22" name="Text 20"/>
          <p:cNvSpPr/>
          <p:nvPr/>
        </p:nvSpPr>
        <p:spPr>
          <a:xfrm>
            <a:off x="1005840" y="3749040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工程化方向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743200" y="374904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设计文档先行 → 全流程闭环 → 渐进式采用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1520" y="4434840"/>
            <a:ext cx="7680960" cy="502920"/>
          </a:xfrm>
          <a:prstGeom prst="rect">
            <a:avLst/>
          </a:prstGeom>
          <a:solidFill>
            <a:srgbClr val="3B82F6">
              <a:alpha val="20000"/>
            </a:srgbClr>
          </a:solidFill>
        </p:spPr>
      </p:sp>
      <p:sp>
        <p:nvSpPr>
          <p:cNvPr id="25" name="Text 23"/>
          <p:cNvSpPr/>
          <p:nvPr/>
        </p:nvSpPr>
        <p:spPr>
          <a:xfrm>
            <a:off x="731520" y="4434840"/>
            <a:ext cx="76809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AI 是工具，人是主导。理解其能力边界，方能善用之。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3" name="Text 1"/>
          <p:cNvSpPr/>
          <p:nvPr/>
        </p:nvSpPr>
        <p:spPr>
          <a:xfrm>
            <a:off x="0" y="1371600"/>
            <a:ext cx="914400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Q &amp; A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0" y="256032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感谢聆听，欢迎交流讨论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828800" y="3474720"/>
            <a:ext cx="5486400" cy="1097280"/>
          </a:xfrm>
          <a:prstGeom prst="rect">
            <a:avLst/>
          </a:prstGeom>
          <a:solidFill>
            <a:srgbClr val="1E293B"/>
          </a:solidFill>
        </p:spPr>
      </p:sp>
      <p:sp>
        <p:nvSpPr>
          <p:cNvPr id="6" name="Text 4"/>
          <p:cNvSpPr/>
          <p:nvPr/>
        </p:nvSpPr>
        <p:spPr>
          <a:xfrm>
            <a:off x="2103120" y="3566160"/>
            <a:ext cx="50292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参考文档
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AI-编程的常识与认知.md | AI-编程最佳实践指南.md
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AI-工程设计流程指南.md | AI 编程助手使用体验调研报告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3959</Words>
  <Application>WPS 演示</Application>
  <PresentationFormat>On-screen Show (16:9)</PresentationFormat>
  <Paragraphs>695</Paragraphs>
  <Slides>21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23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45" baseType="lpstr">
      <vt:lpstr>Arial</vt:lpstr>
      <vt:lpstr>宋体</vt:lpstr>
      <vt:lpstr>Wingdings</vt:lpstr>
      <vt:lpstr>Georgia</vt:lpstr>
      <vt:lpstr>Georgia</vt:lpstr>
      <vt:lpstr>Georgia</vt:lpstr>
      <vt:lpstr>Calibri</vt:lpstr>
      <vt:lpstr>Helvetica Neue</vt:lpstr>
      <vt:lpstr>Calibri</vt:lpstr>
      <vt:lpstr>Calibri</vt:lpstr>
      <vt:lpstr>Arial</vt:lpstr>
      <vt:lpstr>宋体</vt:lpstr>
      <vt:lpstr>汉仪书宋二KW</vt:lpstr>
      <vt:lpstr>微软雅黑</vt:lpstr>
      <vt:lpstr>汉仪旗黑</vt:lpstr>
      <vt:lpstr>Arial Unicode MS</vt:lpstr>
      <vt:lpstr>等线</vt:lpstr>
      <vt:lpstr>汉仪中等线KW</vt:lpstr>
      <vt:lpstr>Consolas</vt:lpstr>
      <vt:lpstr>苹方-简</vt:lpstr>
      <vt:lpstr>Consolas</vt:lpstr>
      <vt:lpstr>Consolas</vt:lpstr>
      <vt:lpstr>Apple Color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编程的常识与认知</dc:title>
  <dc:creator>AI Coding Team</dc:creator>
  <dc:subject>PptxGenJS Presentation</dc:subject>
  <cp:lastModifiedBy>lengzhifeng</cp:lastModifiedBy>
  <cp:revision>6</cp:revision>
  <dcterms:created xsi:type="dcterms:W3CDTF">2026-02-06T08:36:01Z</dcterms:created>
  <dcterms:modified xsi:type="dcterms:W3CDTF">2026-02-06T08:36:01Z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2052-12.1.24031.24031</vt:lpwstr>
  </property>
  <property fmtid="{D5CDD505-2E9C-101B-9397-08002B2CF9AE}" pid="3" name="ICV">
    <vt:lpwstr>5115D1377E2A84356C9E8569647F2948_42</vt:lpwstr>
  </property>
</Properties>
</file>